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2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65735" y="3702227"/>
            <a:ext cx="6858000" cy="6858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0">
                <a:solidFill>
                  <a:srgbClr val="DCE6F0"/>
                </a:solidFill>
                <a:latin typeface="Aptos"/>
              </a:rPr>
              <a:t>Caso de estudo • Problema • Estudo comparado • Tecnologias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715000"/>
            <a:ext cx="6858000" cy="32004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Estalagem, Viana — Luanda, Angola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779C222-7F62-552A-4EF5-0EABB54C6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449" y="316057"/>
            <a:ext cx="3552825" cy="849803"/>
          </a:xfrm>
          <a:prstGeom prst="rect">
            <a:avLst/>
          </a:prstGeom>
        </p:spPr>
      </p:pic>
      <p:sp>
        <p:nvSpPr>
          <p:cNvPr id="13" name="object 3">
            <a:extLst>
              <a:ext uri="{FF2B5EF4-FFF2-40B4-BE49-F238E27FC236}">
                <a16:creationId xmlns:a16="http://schemas.microsoft.com/office/drawing/2014/main" id="{64579F50-9992-ED49-0421-C0F5D0AED96E}"/>
              </a:ext>
            </a:extLst>
          </p:cNvPr>
          <p:cNvSpPr txBox="1"/>
          <p:nvPr/>
        </p:nvSpPr>
        <p:spPr>
          <a:xfrm>
            <a:off x="304800" y="1477751"/>
            <a:ext cx="11582399" cy="149335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INSTITUTO TÉCNICO COMERCIAL DE LUANDA </a:t>
            </a:r>
          </a:p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COORDENAÇÃO DO CURSO DE INFORMÁTICA</a:t>
            </a:r>
            <a:endParaRPr lang="pt-PT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PT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359134B7-C926-8D37-7A22-EF6DA88AA148}"/>
              </a:ext>
            </a:extLst>
          </p:cNvPr>
          <p:cNvSpPr txBox="1"/>
          <p:nvPr/>
        </p:nvSpPr>
        <p:spPr>
          <a:xfrm>
            <a:off x="165736" y="3087751"/>
            <a:ext cx="11860530" cy="1712328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508125" marR="5080" indent="-1496060" algn="ctr">
              <a:lnSpc>
                <a:spcPts val="6310"/>
              </a:lnSpc>
              <a:spcBef>
                <a:spcPts val="690"/>
              </a:spcBef>
            </a:pPr>
            <a:r>
              <a:rPr sz="3600" b="1" spc="-2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CRIAÇ</a:t>
            </a:r>
            <a:r>
              <a:rPr lang="pt-PT" sz="3600" b="1" spc="-2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Ã</a:t>
            </a:r>
            <a:r>
              <a:rPr sz="3600" b="1" spc="-2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3600" b="1" spc="-1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6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3600" b="1" spc="-3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</a:t>
            </a:r>
            <a:r>
              <a:rPr sz="3600" b="1" spc="-2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3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</a:t>
            </a:r>
            <a:r>
              <a:rPr sz="3600" b="1" spc="-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6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3600" b="1" spc="-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5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</a:t>
            </a:r>
            <a:r>
              <a:rPr lang="pt-PT" sz="3600" b="1" spc="-5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Ã</a:t>
            </a:r>
            <a:r>
              <a:rPr sz="3600" b="1" spc="-5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3600" b="1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3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COMERCIAL: </a:t>
            </a:r>
            <a:endParaRPr lang="pt-PT" sz="3600" b="1" spc="-33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8125" marR="5080" indent="-1496060" algn="ctr">
              <a:lnSpc>
                <a:spcPts val="6310"/>
              </a:lnSpc>
              <a:spcBef>
                <a:spcPts val="690"/>
              </a:spcBef>
            </a:pPr>
            <a:r>
              <a:rPr sz="3600" b="1" spc="-254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DONA</a:t>
            </a:r>
            <a:r>
              <a:rPr sz="3600" b="1" spc="-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LAURA</a:t>
            </a:r>
            <a:r>
              <a:rPr sz="3600" b="1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5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</a:t>
            </a:r>
            <a:r>
              <a:rPr sz="3600" b="1" spc="5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50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GERAIS</a:t>
            </a:r>
            <a:r>
              <a:rPr sz="3600" b="1" spc="-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34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LDA</a:t>
            </a:r>
            <a:endParaRPr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E0CC80A-2782-485D-DB95-017523CE0FF1}"/>
              </a:ext>
            </a:extLst>
          </p:cNvPr>
          <p:cNvSpPr txBox="1"/>
          <p:nvPr/>
        </p:nvSpPr>
        <p:spPr>
          <a:xfrm>
            <a:off x="4156075" y="5957168"/>
            <a:ext cx="426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b="1" dirty="0"/>
              <a:t>LUANDA 2025/206</a:t>
            </a:r>
            <a:endParaRPr lang="pt-PT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700" b="1">
                <a:solidFill>
                  <a:srgbClr val="162C49"/>
                </a:solidFill>
                <a:latin typeface="Aptos"/>
              </a:rPr>
              <a:t>1. Caso de estudo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64008"/>
          </a:xfrm>
          <a:prstGeom prst="rect">
            <a:avLst/>
          </a:prstGeom>
          <a:solidFill>
            <a:srgbClr val="E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1000" b="0">
                <a:solidFill>
                  <a:srgbClr val="647180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A loja Dona Laura Construções, também identificada no projecto como Dona Laura Construções Gerais, Lda.</a:t>
            </a:r>
          </a:p>
          <a:p>
            <a:pPr>
              <a:spcAft>
                <a:spcPts val="13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Localização indicada: zona da Estalagem, município de Viana, província de Luanda.</a:t>
            </a:r>
          </a:p>
          <a:p>
            <a:pPr>
              <a:spcAft>
                <a:spcPts val="13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Actividade: venda de materiais de construção e produtos associados.</a:t>
            </a:r>
          </a:p>
          <a:p>
            <a:pPr>
              <a:spcAft>
                <a:spcPts val="13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O projecto propõe informatizar os registos comerciais e facilitar a consulta da informação.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700" b="1">
                <a:solidFill>
                  <a:srgbClr val="162C49"/>
                </a:solidFill>
                <a:latin typeface="Aptos"/>
              </a:rPr>
              <a:t>Processos e âmbito do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64008"/>
          </a:xfrm>
          <a:prstGeom prst="rect">
            <a:avLst/>
          </a:prstGeom>
          <a:solidFill>
            <a:srgbClr val="E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1000" b="0">
                <a:solidFill>
                  <a:srgbClr val="647180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463039"/>
            <a:ext cx="3191256" cy="3840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1">
                <a:solidFill>
                  <a:srgbClr val="265B91"/>
                </a:solidFill>
                <a:latin typeface="Aptos"/>
              </a:rPr>
              <a:t>Produtos e categorias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47672"/>
            <a:ext cx="3191256" cy="11155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400" b="0">
                <a:solidFill>
                  <a:srgbClr val="28313C"/>
                </a:solidFill>
                <a:latin typeface="Aptos"/>
              </a:rPr>
              <a:t>Cadastrar artigos, organizar categorias e consultar preços.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1463039"/>
            <a:ext cx="3191256" cy="3840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1">
                <a:solidFill>
                  <a:srgbClr val="265B91"/>
                </a:solidFill>
                <a:latin typeface="Aptos"/>
              </a:rPr>
              <a:t>Entradas e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47672"/>
            <a:ext cx="3191256" cy="11155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400" b="0">
                <a:solidFill>
                  <a:srgbClr val="28313C"/>
                </a:solidFill>
                <a:latin typeface="Aptos"/>
              </a:rPr>
              <a:t>Registar mercadorias recebidas e actualizar quantidades.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463039"/>
            <a:ext cx="3191256" cy="3840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1">
                <a:solidFill>
                  <a:srgbClr val="265B91"/>
                </a:solidFill>
                <a:latin typeface="Aptos"/>
              </a:rPr>
              <a:t>Vendas e relatórios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947672"/>
            <a:ext cx="3191256" cy="11155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400" b="0">
                <a:solidFill>
                  <a:srgbClr val="28313C"/>
                </a:solidFill>
                <a:latin typeface="Aptos"/>
              </a:rPr>
              <a:t>Registar vendas, acompanhar movimentos e gerar relatórios básicos.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10515600" cy="4114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100" b="1">
                <a:solidFill>
                  <a:srgbClr val="162C49"/>
                </a:solidFill>
                <a:latin typeface="Aptos"/>
              </a:rPr>
              <a:t>Perfis propostos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Administrador: gerir utilizadores, configurar dados e consultar relatórios.</a:t>
            </a:r>
          </a:p>
          <a:p>
            <a:pPr>
              <a:spcAft>
                <a:spcPts val="13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Funcionário/vendedor: consultar produtos e registar vendas conforme as permissões.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700" b="1">
                <a:solidFill>
                  <a:srgbClr val="162C49"/>
                </a:solidFill>
                <a:latin typeface="Aptos"/>
              </a:rPr>
              <a:t>2.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64008"/>
          </a:xfrm>
          <a:prstGeom prst="rect">
            <a:avLst/>
          </a:prstGeom>
          <a:solidFill>
            <a:srgbClr val="E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1000" b="0">
                <a:solidFill>
                  <a:srgbClr val="647180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Registos manuais ou dispersos podem dificultar a consulta e provocar omissões, duplicações e erros.</a:t>
            </a:r>
          </a:p>
          <a:p>
            <a:pPr>
              <a:spcAft>
                <a:spcPts val="13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Uma venda não reflectida no stock pode criar diferenças entre o inventário físico e o registado.</a:t>
            </a:r>
          </a:p>
          <a:p>
            <a:pPr>
              <a:spcAft>
                <a:spcPts val="13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A informação dispersa dificulta identificar produtos mais vendidos e preparar relatórios.</a:t>
            </a:r>
          </a:p>
          <a:p>
            <a:pPr>
              <a:spcAft>
                <a:spcPts val="13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Sem dados coerentes sobre custos, vendas e despesas, torna-se mais difícil acompanhar os resultados.</a:t>
            </a:r>
          </a:p>
          <a:p>
            <a:pPr>
              <a:spcAft>
                <a:spcPts val="13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É necessário proteger os dados contra acessos indevidos e perdas acidentais.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700" b="1">
                <a:solidFill>
                  <a:srgbClr val="162C49"/>
                </a:solidFill>
                <a:latin typeface="Aptos"/>
              </a:rPr>
              <a:t>3. Pergunta de pesquisa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64008"/>
          </a:xfrm>
          <a:prstGeom prst="rect">
            <a:avLst/>
          </a:prstGeom>
          <a:solidFill>
            <a:srgbClr val="E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1000" b="0">
                <a:solidFill>
                  <a:srgbClr val="647180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10515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737360"/>
            <a:ext cx="9875520" cy="128016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2300" b="1">
                <a:solidFill>
                  <a:srgbClr val="162C49"/>
                </a:solidFill>
                <a:latin typeface="Aptos"/>
              </a:rPr>
              <a:t>De que forma a construção de um sistema de gestão informatizado pode melhorar o controlo de stock, o registo de vendas e o acompanhamento financeiro da loja Dona Laura Construções?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10515600" cy="4114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000" b="1">
                <a:solidFill>
                  <a:srgbClr val="265B91"/>
                </a:solidFill>
                <a:latin typeface="Aptos"/>
              </a:rPr>
              <a:t>Questões complementares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605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Que dificuldades existem nos registos actuais?</a:t>
            </a:r>
          </a:p>
          <a:p>
            <a:pPr>
              <a:spcAft>
                <a:spcPts val="13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Quais são as funcionalidades prioritárias?</a:t>
            </a:r>
          </a:p>
          <a:p>
            <a:pPr>
              <a:spcAft>
                <a:spcPts val="13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Como garantir segurança e avaliar melhorias?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700" b="1">
                <a:solidFill>
                  <a:srgbClr val="162C49"/>
                </a:solidFill>
                <a:latin typeface="Aptos"/>
              </a:rPr>
              <a:t>4. Estudo comparado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64008"/>
          </a:xfrm>
          <a:prstGeom prst="rect">
            <a:avLst/>
          </a:prstGeom>
          <a:solidFill>
            <a:srgbClr val="E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1000" b="0">
                <a:solidFill>
                  <a:srgbClr val="647180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508760"/>
            <a:ext cx="3191256" cy="3840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1">
                <a:solidFill>
                  <a:srgbClr val="265B91"/>
                </a:solidFill>
                <a:latin typeface="Aptos"/>
              </a:rPr>
              <a:t>Registo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93392"/>
            <a:ext cx="3191256" cy="2761487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400" b="0">
                <a:solidFill>
                  <a:srgbClr val="28313C"/>
                </a:solidFill>
                <a:latin typeface="Aptos"/>
              </a:rPr>
              <a:t>Vantagens:
• Simples e barato para começar
• Não exige domínio de software
Limitações:
• Pesquisa lenta
• Cálculos e relatórios manuais
• Risco de perda de documentos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1508760"/>
            <a:ext cx="3191256" cy="3840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1">
                <a:solidFill>
                  <a:srgbClr val="265B91"/>
                </a:solidFill>
                <a:latin typeface="Aptos"/>
              </a:rPr>
              <a:t>Folhas de cálculo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93392"/>
            <a:ext cx="3191256" cy="2761487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400" b="0">
                <a:solidFill>
                  <a:srgbClr val="28313C"/>
                </a:solidFill>
                <a:latin typeface="Aptos"/>
              </a:rPr>
              <a:t>Vantagens:
• Fórmulas, ordenação e gráficos
• Úteis para listas e relatórios simples
Limitações:
• Ficheiros duplicados
• Fórmulas alteradas por engano
• Controlo limitado de acessos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508760"/>
            <a:ext cx="3191256" cy="3840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1">
                <a:solidFill>
                  <a:srgbClr val="265B91"/>
                </a:solidFill>
                <a:latin typeface="Aptos"/>
              </a:rPr>
              <a:t>Sistema informatizado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993392"/>
            <a:ext cx="3191256" cy="2761487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400" b="0">
                <a:solidFill>
                  <a:srgbClr val="28313C"/>
                </a:solidFill>
                <a:latin typeface="Aptos"/>
              </a:rPr>
              <a:t>Vantagens:
• Dados centralizados
• Stock pode ser actualizado automaticamente
• Relatórios integrados
Limitações:
• Requer desenvolvimento, testes e manutenção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700" b="1">
                <a:solidFill>
                  <a:srgbClr val="162C49"/>
                </a:solidFill>
                <a:latin typeface="Aptos"/>
              </a:rPr>
              <a:t>Comparação dos métodos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64008"/>
          </a:xfrm>
          <a:prstGeom prst="rect">
            <a:avLst/>
          </a:prstGeom>
          <a:solidFill>
            <a:srgbClr val="E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1000" b="0">
                <a:solidFill>
                  <a:srgbClr val="647180"/>
                </a:solidFill>
                <a:latin typeface="Aptos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108356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Critério</a:t>
                      </a:r>
                    </a:p>
                  </a:txBody>
                  <a:tcPr marT="73152">
                    <a:solidFill>
                      <a:srgbClr val="162C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Manual</a:t>
                      </a:r>
                    </a:p>
                  </a:txBody>
                  <a:tcPr marT="73152">
                    <a:solidFill>
                      <a:srgbClr val="162C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Folha de cálculo</a:t>
                      </a:r>
                    </a:p>
                  </a:txBody>
                  <a:tcPr marT="73152">
                    <a:solidFill>
                      <a:srgbClr val="162C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Sistema informatizado</a:t>
                      </a:r>
                    </a:p>
                  </a:txBody>
                  <a:tcPr marT="73152">
                    <a:solidFill>
                      <a:srgbClr val="162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Pesquisa</a:t>
                      </a:r>
                    </a:p>
                  </a:txBody>
                  <a:tcPr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Lenta em muitos registos</a:t>
                      </a:r>
                    </a:p>
                  </a:txBody>
                  <a:tcPr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Rápida se organizada</a:t>
                      </a:r>
                    </a:p>
                  </a:txBody>
                  <a:tcPr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Rápida com filtros</a:t>
                      </a:r>
                    </a:p>
                  </a:txBody>
                  <a:tcPr marT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Actualização do stock</a:t>
                      </a:r>
                    </a:p>
                  </a:txBody>
                  <a:tcPr marT="73152"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Feita manualmente</a:t>
                      </a:r>
                    </a:p>
                  </a:txBody>
                  <a:tcPr marT="73152"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Depende de fórmulas</a:t>
                      </a:r>
                    </a:p>
                  </a:txBody>
                  <a:tcPr marT="73152"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Pode ser automática</a:t>
                      </a:r>
                    </a:p>
                  </a:txBody>
                  <a:tcPr marT="73152">
                    <a:solidFill>
                      <a:srgbClr val="E9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Relatórios e segurança</a:t>
                      </a:r>
                    </a:p>
                  </a:txBody>
                  <a:tcPr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Preparação manual; arquivo físico</a:t>
                      </a:r>
                    </a:p>
                  </a:txBody>
                  <a:tcPr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Ficheiros e permissões limitadas</a:t>
                      </a:r>
                    </a:p>
                  </a:txBody>
                  <a:tcPr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Relatórios integrados; contas e permissões</a:t>
                      </a:r>
                    </a:p>
                  </a:txBody>
                  <a:tcPr marT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532120"/>
            <a:ext cx="10332720" cy="5029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0">
                <a:solidFill>
                  <a:srgbClr val="647180"/>
                </a:solidFill>
                <a:latin typeface="Aptos"/>
              </a:rPr>
              <a:t>A comparação é qualitativa; não resulta de medições realizadas na empresa.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700" b="1">
                <a:solidFill>
                  <a:srgbClr val="162C49"/>
                </a:solidFill>
                <a:latin typeface="Aptos"/>
              </a:rPr>
              <a:t>Solução proposta para a loja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64008"/>
          </a:xfrm>
          <a:prstGeom prst="rect">
            <a:avLst/>
          </a:prstGeom>
          <a:solidFill>
            <a:srgbClr val="E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1000" b="0">
                <a:solidFill>
                  <a:srgbClr val="647180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Desenvolver uma aplicação web ajustada às operações reais da loja.</a:t>
            </a:r>
          </a:p>
          <a:p>
            <a:pPr>
              <a:spcAft>
                <a:spcPts val="13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Começar por produtos, categorias, entradas, vendas, stock, utilizadores e relatórios básicos.</a:t>
            </a:r>
          </a:p>
          <a:p>
            <a:pPr>
              <a:spcAft>
                <a:spcPts val="13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Implementar por etapas: requisitos, base de dados, interfaces, programação, testes e formação.</a:t>
            </a:r>
          </a:p>
          <a:p>
            <a:pPr>
              <a:spcAft>
                <a:spcPts val="13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Comparar o stock do sistema com a contagem física antes de alargar a utilização.</a:t>
            </a:r>
          </a:p>
          <a:p>
            <a:pPr>
              <a:spcAft>
                <a:spcPts val="13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Confirmar os requisitos com a gerência e os funcionários; os resultados devem ser avaliados após os testes.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700" b="1">
                <a:solidFill>
                  <a:srgbClr val="162C49"/>
                </a:solidFill>
                <a:latin typeface="Aptos"/>
              </a:rPr>
              <a:t>5. Tecnologias utilizadas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64008"/>
          </a:xfrm>
          <a:prstGeom prst="rect">
            <a:avLst/>
          </a:prstGeom>
          <a:solidFill>
            <a:srgbClr val="E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1000" b="0">
                <a:solidFill>
                  <a:srgbClr val="647180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423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645919"/>
            <a:ext cx="2093976" cy="3840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1">
                <a:solidFill>
                  <a:srgbClr val="265B91"/>
                </a:solidFill>
                <a:latin typeface="Aptos"/>
              </a:rPr>
              <a:t>HTML5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30552"/>
            <a:ext cx="2093976" cy="8869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400" b="0">
                <a:solidFill>
                  <a:srgbClr val="28313C"/>
                </a:solidFill>
                <a:latin typeface="Aptos"/>
              </a:rPr>
              <a:t>Estrutura das páginas e formulários.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508760"/>
            <a:ext cx="2423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0712" y="1645919"/>
            <a:ext cx="2093976" cy="3840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1">
                <a:solidFill>
                  <a:srgbClr val="265B91"/>
                </a:solidFill>
                <a:latin typeface="Aptos"/>
              </a:rPr>
              <a:t>CSS3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130552"/>
            <a:ext cx="2093976" cy="8869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400" b="0">
                <a:solidFill>
                  <a:srgbClr val="28313C"/>
                </a:solidFill>
                <a:latin typeface="Aptos"/>
              </a:rPr>
              <a:t>Estilo, cores, espaçamento e design responsivo.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508760"/>
            <a:ext cx="2423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71031" y="1645919"/>
            <a:ext cx="2093976" cy="3840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1">
                <a:solidFill>
                  <a:srgbClr val="265B91"/>
                </a:solidFill>
                <a:latin typeface="Aptos"/>
              </a:rPr>
              <a:t>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1" y="2130552"/>
            <a:ext cx="2093976" cy="8869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400" b="0">
                <a:solidFill>
                  <a:srgbClr val="28313C"/>
                </a:solidFill>
                <a:latin typeface="Aptos"/>
              </a:rPr>
              <a:t>Interactividade e cálculos provisórios no navegador.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508760"/>
            <a:ext cx="2926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31352" y="1645919"/>
            <a:ext cx="2596896" cy="3840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1">
                <a:solidFill>
                  <a:srgbClr val="265B91"/>
                </a:solidFill>
                <a:latin typeface="Aptos"/>
              </a:rPr>
              <a:t>PHP + 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2130552"/>
            <a:ext cx="2596896" cy="8869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400" b="0">
                <a:solidFill>
                  <a:srgbClr val="28313C"/>
                </a:solidFill>
                <a:latin typeface="Aptos"/>
              </a:rPr>
              <a:t>Regras no servidor e armazenamento relacional.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424160" cy="4114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000" b="1">
                <a:solidFill>
                  <a:srgbClr val="162C49"/>
                </a:solidFill>
                <a:latin typeface="Aptos"/>
              </a:rPr>
              <a:t>Fluxo de uma operação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605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O utilizador preenche o formulário no navegador.</a:t>
            </a:r>
          </a:p>
          <a:p>
            <a:pPr>
              <a:spcAft>
                <a:spcPts val="13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PHP valida dados, permissões, disponibilidade e totais.</a:t>
            </a:r>
          </a:p>
          <a:p>
            <a:pPr>
              <a:spcAft>
                <a:spcPts val="13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MySQL guarda a operação e os movimentos de stock.</a:t>
            </a:r>
          </a:p>
          <a:p>
            <a:pPr>
              <a:spcAft>
                <a:spcPts val="13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O sistema devolve confirmação ou mensagem de erro.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700" b="1">
                <a:solidFill>
                  <a:srgbClr val="162C49"/>
                </a:solidFill>
                <a:latin typeface="Aptos"/>
              </a:rPr>
              <a:t>Função de cada tecnologia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64008"/>
          </a:xfrm>
          <a:prstGeom prst="rect">
            <a:avLst/>
          </a:prstGeom>
          <a:solidFill>
            <a:srgbClr val="E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1000" b="0">
                <a:solidFill>
                  <a:srgbClr val="647180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17319"/>
            <a:ext cx="4928616" cy="3840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1">
                <a:solidFill>
                  <a:srgbClr val="265B91"/>
                </a:solidFill>
                <a:latin typeface="Aptos"/>
              </a:rPr>
              <a:t>HTML5 + CSS3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01952"/>
            <a:ext cx="4928616" cy="11155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400" b="0">
                <a:solidFill>
                  <a:srgbClr val="28313C"/>
                </a:solidFill>
                <a:latin typeface="Aptos"/>
              </a:rPr>
              <a:t>HTML organiza conteúdos, menus, tabelas e formulários. CSS define a apresentação visual e ajuda a manter a interface consistente.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417319"/>
            <a:ext cx="4928616" cy="3840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1">
                <a:solidFill>
                  <a:srgbClr val="265B91"/>
                </a:solidFill>
                <a:latin typeface="Aptos"/>
              </a:rPr>
              <a:t>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901952"/>
            <a:ext cx="4928616" cy="11155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400" b="0">
                <a:solidFill>
                  <a:srgbClr val="28313C"/>
                </a:solidFill>
                <a:latin typeface="Aptos"/>
              </a:rPr>
              <a:t>Acrescenta interactividade, confirma acções e apresenta subtotais provisórios. Os valores finais devem ser recalculados no servidor.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2900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566160"/>
            <a:ext cx="4928616" cy="3840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1">
                <a:solidFill>
                  <a:srgbClr val="265B91"/>
                </a:solidFill>
                <a:latin typeface="Aptos"/>
              </a:rPr>
              <a:t>PHP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050791"/>
            <a:ext cx="4928616" cy="11155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400" b="0">
                <a:solidFill>
                  <a:srgbClr val="28313C"/>
                </a:solidFill>
                <a:latin typeface="Aptos"/>
              </a:rPr>
              <a:t>Processa formulários, aplica regras comerciais, controla sessões e permissões e comunica com a base de dados.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2900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3566160"/>
            <a:ext cx="4928616" cy="3840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1">
                <a:solidFill>
                  <a:srgbClr val="265B91"/>
                </a:solidFill>
                <a:latin typeface="Aptos"/>
              </a:rPr>
              <a:t>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050791"/>
            <a:ext cx="4928616" cy="11155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400" b="0">
                <a:solidFill>
                  <a:srgbClr val="28313C"/>
                </a:solidFill>
                <a:latin typeface="Aptos"/>
              </a:rPr>
              <a:t>Armazena produtos, categorias, entradas, vendas, detalhes das vendas, utilizadores e movimentos de stock.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700" b="1">
                <a:solidFill>
                  <a:srgbClr val="162C49"/>
                </a:solidFill>
                <a:latin typeface="Aptos"/>
              </a:rPr>
              <a:t>Base de dados e segurança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64008"/>
          </a:xfrm>
          <a:prstGeom prst="rect">
            <a:avLst/>
          </a:prstGeom>
          <a:solidFill>
            <a:srgbClr val="E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1000" b="0">
                <a:solidFill>
                  <a:srgbClr val="647180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57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63039"/>
            <a:ext cx="4928616" cy="3840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1">
                <a:solidFill>
                  <a:srgbClr val="265B91"/>
                </a:solidFill>
                <a:latin typeface="Aptos"/>
              </a:rPr>
              <a:t>Tabelas preliminares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47672"/>
            <a:ext cx="4928616" cy="35844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400" b="0">
                <a:solidFill>
                  <a:srgbClr val="28313C"/>
                </a:solidFill>
                <a:latin typeface="Aptos"/>
              </a:rPr>
              <a:t>• Utilizadores
• Categorias e produtos
• Fornecedores
• Entradas de stock e detalhes
• Vendas e detalhes de venda
• Movimentos de stock
As relações entre tabelas ajudam a manter a integridade dos dados.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463039"/>
            <a:ext cx="4928616" cy="3840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1">
                <a:solidFill>
                  <a:srgbClr val="265B91"/>
                </a:solidFill>
                <a:latin typeface="Aptos"/>
              </a:rPr>
              <a:t>Medidas de segurança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947672"/>
            <a:ext cx="4928616" cy="358444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400" b="0">
                <a:solidFill>
                  <a:srgbClr val="28313C"/>
                </a:solidFill>
                <a:latin typeface="Aptos"/>
              </a:rPr>
              <a:t>• Contas individuais e permissões por perfil
• Consultas preparadas contra SQL Injection
• Palavras-passe guardadas como hashes
• Validação dos dados no servidor
• Cópias de segurança e testes de recuperação
• Histórico de operações relevantes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700" b="1">
                <a:solidFill>
                  <a:srgbClr val="162C49"/>
                </a:solidFill>
                <a:latin typeface="Aptos"/>
              </a:rPr>
              <a:t>Testes, implantação e avaliação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64008"/>
          </a:xfrm>
          <a:prstGeom prst="rect">
            <a:avLst/>
          </a:prstGeom>
          <a:solidFill>
            <a:srgbClr val="E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1000" b="0">
                <a:solidFill>
                  <a:srgbClr val="647180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Testar cadastro, edição, pesquisa e campos obrigatórios dos produtos.</a:t>
            </a:r>
          </a:p>
          <a:p>
            <a:pPr>
              <a:spcAft>
                <a:spcPts val="13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Confirmar que as entradas aumentam o stock e as vendas reduzem as quantidades correctas.</a:t>
            </a:r>
          </a:p>
          <a:p>
            <a:pPr>
              <a:spcAft>
                <a:spcPts val="13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Testar vendas sem stock suficiente, acessos não autorizados e dados inválidos.</a:t>
            </a:r>
          </a:p>
          <a:p>
            <a:pPr>
              <a:spcAft>
                <a:spcPts val="13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Formar os utilizadores e fornecer instruções básicas de operação.</a:t>
            </a:r>
          </a:p>
          <a:p>
            <a:pPr>
              <a:spcAft>
                <a:spcPts val="13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Avaliar tempo de pesquisa, divergências de inventário e facilidade de consulta dos relatórios.</a:t>
            </a:r>
          </a:p>
          <a:p>
            <a:pPr>
              <a:spcAft>
                <a:spcPts val="13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Apresentar resultados quantitativos apenas depois de recolher dados reais.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700" b="1">
                <a:solidFill>
                  <a:srgbClr val="162C49"/>
                </a:solidFill>
                <a:latin typeface="Aptos"/>
              </a:rPr>
              <a:t>Conclusão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64008"/>
          </a:xfrm>
          <a:prstGeom prst="rect">
            <a:avLst/>
          </a:prstGeom>
          <a:solidFill>
            <a:srgbClr val="E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1000" b="0">
                <a:solidFill>
                  <a:srgbClr val="647180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13C"/>
                </a:solidFill>
                <a:latin typeface="Aptos"/>
              </a:defRPr>
            </a:pPr>
            <a:r>
              <a:t>Um sistema web pode integrar o cadastro, as entradas, as vendas e o controlo de stock.</a:t>
            </a:r>
          </a:p>
          <a:p>
            <a:pPr>
              <a:spcAft>
                <a:spcPts val="1300"/>
              </a:spcAft>
              <a:defRPr sz="2000">
                <a:solidFill>
                  <a:srgbClr val="28313C"/>
                </a:solidFill>
                <a:latin typeface="Aptos"/>
              </a:defRPr>
            </a:pPr>
            <a:r>
              <a:t>HTML5, CSS3 e JavaScript suportam a interface; PHP processa as regras; MySQL guarda os dados.</a:t>
            </a:r>
          </a:p>
          <a:p>
            <a:pPr>
              <a:spcAft>
                <a:spcPts val="1300"/>
              </a:spcAft>
              <a:defRPr sz="2000">
                <a:solidFill>
                  <a:srgbClr val="28313C"/>
                </a:solidFill>
                <a:latin typeface="Aptos"/>
              </a:defRPr>
            </a:pPr>
            <a:r>
              <a:t>A eficácia depende de requisitos bem definidos, segurança, testes, cópias de segurança e formação.</a:t>
            </a:r>
          </a:p>
          <a:p>
            <a:pPr>
              <a:spcAft>
                <a:spcPts val="1300"/>
              </a:spcAft>
              <a:defRPr sz="2000">
                <a:solidFill>
                  <a:srgbClr val="28313C"/>
                </a:solidFill>
                <a:latin typeface="Aptos"/>
              </a:defRPr>
            </a:pPr>
            <a:r>
              <a:t>A recomendação é uma proposta académica e deve ser validada com a realidade da loja.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700" b="1">
                <a:solidFill>
                  <a:srgbClr val="162C49"/>
                </a:solidFill>
                <a:latin typeface="Aptos"/>
              </a:rPr>
              <a:t>Referências bibliográficas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1051560" cy="64008"/>
          </a:xfrm>
          <a:prstGeom prst="rect">
            <a:avLst/>
          </a:prstGeom>
          <a:solidFill>
            <a:srgbClr val="E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1000" b="0">
                <a:solidFill>
                  <a:srgbClr val="647180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8313C"/>
                </a:solidFill>
                <a:latin typeface="Aptos"/>
              </a:defRPr>
            </a:pPr>
            <a:r>
              <a:t>MDN Web Docs. HTML, CSS e JavaScript. developer.mozilla.org</a:t>
            </a:r>
          </a:p>
          <a:p>
            <a:pPr>
              <a:spcAft>
                <a:spcPts val="1300"/>
              </a:spcAft>
              <a:defRPr sz="1600">
                <a:solidFill>
                  <a:srgbClr val="28313C"/>
                </a:solidFill>
                <a:latin typeface="Aptos"/>
              </a:defRPr>
            </a:pPr>
            <a:r>
              <a:t>Oracle. MySQL 8.0 Reference Manual. dev.mysql.com/doc</a:t>
            </a:r>
          </a:p>
          <a:p>
            <a:pPr>
              <a:spcAft>
                <a:spcPts val="1300"/>
              </a:spcAft>
              <a:defRPr sz="1600">
                <a:solidFill>
                  <a:srgbClr val="28313C"/>
                </a:solidFill>
                <a:latin typeface="Aptos"/>
              </a:defRPr>
            </a:pPr>
            <a:r>
              <a:t>OWASP Foundation. SQL Injection Prevention Cheat Sheet. cheatsheetseries.owasp.org</a:t>
            </a:r>
          </a:p>
          <a:p>
            <a:pPr>
              <a:spcAft>
                <a:spcPts val="1300"/>
              </a:spcAft>
              <a:defRPr sz="1600">
                <a:solidFill>
                  <a:srgbClr val="28313C"/>
                </a:solidFill>
                <a:latin typeface="Aptos"/>
              </a:defRPr>
            </a:pPr>
            <a:r>
              <a:t>PHP Documentation Group. Manual do PHP. php.net/manual</a:t>
            </a:r>
          </a:p>
          <a:p>
            <a:pPr>
              <a:spcAft>
                <a:spcPts val="1300"/>
              </a:spcAft>
              <a:defRPr sz="1600">
                <a:solidFill>
                  <a:srgbClr val="28313C"/>
                </a:solidFill>
                <a:latin typeface="Aptos"/>
              </a:defRPr>
            </a:pPr>
            <a:r>
              <a:t>Sommerville, Ian. Software Engineering. 10.ª ed., Pearson, 2016.</a:t>
            </a:r>
          </a:p>
          <a:p>
            <a:pPr>
              <a:spcAft>
                <a:spcPts val="1300"/>
              </a:spcAft>
              <a:defRPr sz="1600">
                <a:solidFill>
                  <a:srgbClr val="28313C"/>
                </a:solidFill>
                <a:latin typeface="Aptos"/>
              </a:defRPr>
            </a:pPr>
            <a:r>
              <a:t>Pressman, Roger S.; Maxim, Bruce R. Software Engineering: A Practitioner's Approach. 9.ª ed., McGraw-Hill,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1105</Words>
  <Application>Microsoft Office PowerPoint</Application>
  <PresentationFormat>Widescreen</PresentationFormat>
  <Paragraphs>126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DELFINO CHIWILA</dc:creator>
  <cp:keywords/>
  <dc:description>generated using python-pptx</dc:description>
  <cp:lastModifiedBy>DELFINO CHIWILA</cp:lastModifiedBy>
  <cp:revision>2</cp:revision>
  <dcterms:created xsi:type="dcterms:W3CDTF">2013-01-27T09:14:16Z</dcterms:created>
  <dcterms:modified xsi:type="dcterms:W3CDTF">2026-10-20T12:32:28Z</dcterms:modified>
  <cp:category/>
</cp:coreProperties>
</file>