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731520"/>
            <a:ext cx="2103120" cy="21031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1828800"/>
            <a:ext cx="1463040" cy="14630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3108960"/>
            <a:ext cx="2377440" cy="2377440"/>
          </a:xfrm>
          <a:prstGeom prst="ellipse">
            <a:avLst/>
          </a:prstGeom>
          <a:solidFill>
            <a:srgbClr val="1D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76809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2D3EE"/>
                </a:solidFill>
                <a:latin typeface="Aptos"/>
              </a:rPr>
              <a:t>INSTITUTO MÉDIO COMERCIAL DE LUANDA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71323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ECDE1"/>
                </a:solidFill>
                <a:latin typeface="Aptos"/>
              </a:rPr>
              <a:t>PROJECTO DE APTIDÃO PROFISSIONAL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7680960" cy="1600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 i="0">
                <a:solidFill>
                  <a:srgbClr val="F8FAFC"/>
                </a:solidFill>
                <a:latin typeface="Aptos"/>
              </a:rPr>
              <a:t>WINDOWS
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493008"/>
            <a:ext cx="704088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BECDE1"/>
                </a:solidFill>
                <a:latin typeface="Aptos"/>
              </a:rPr>
              <a:t>Desenvolvimento de uma aplicação inteligente de assistência para 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892040"/>
            <a:ext cx="67665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Delfino Chiwila Hipundaka  •  Nº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349240"/>
            <a:ext cx="8046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ECDE1"/>
                </a:solidFill>
                <a:latin typeface="Aptos"/>
              </a:rPr>
              <a:t>Curso: Técnico de Informática de Gestão  |  Turma: CTI  |  Classe: 13.ª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5760720"/>
            <a:ext cx="6766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ECDE1"/>
                </a:solidFill>
                <a:latin typeface="Aptos"/>
              </a:rPr>
              <a:t>Orientador: Msc. Eugénio Monteiro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6199632"/>
            <a:ext cx="45720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Luanda •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APRESENTAÇÃO DO PROJECTO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74320"/>
            <a:ext cx="5029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BECDE1"/>
                </a:solidFill>
                <a:latin typeface="Aptos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109728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Aptos"/>
              </a:rPr>
              <a:t>O que é o Windows Assistant?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08813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BECDE1"/>
                </a:solidFill>
                <a:latin typeface="Aptos"/>
              </a:rPr>
              <a:t>Uma proposta de aplicação de ambiente de trabalho para simplificar tarefas no Windows.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3429000" cy="2468880"/>
          </a:xfrm>
          <a:prstGeom prst="roundRect">
            <a:avLst/>
          </a:prstGeom>
          <a:solidFill>
            <a:srgbClr val="1D304F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64008" cy="2468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96312"/>
            <a:ext cx="3063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AFC"/>
                </a:solidFill>
                <a:latin typeface="Aptos"/>
              </a:rPr>
              <a:t>IDEIA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53512"/>
            <a:ext cx="3063240" cy="1719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ECDE1"/>
                </a:solidFill>
                <a:latin typeface="Aptos"/>
              </a:rPr>
              <a:t>Reunir ferramentas e orientações úteis numa interface única.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331720"/>
            <a:ext cx="3429000" cy="2468880"/>
          </a:xfrm>
          <a:prstGeom prst="roundRect">
            <a:avLst/>
          </a:prstGeom>
          <a:solidFill>
            <a:srgbClr val="1D304F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331720"/>
            <a:ext cx="64008" cy="24688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496312"/>
            <a:ext cx="3063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AFC"/>
                </a:solidFill>
                <a:latin typeface="Aptos"/>
              </a:rPr>
              <a:t>UTILIZADORES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953512"/>
            <a:ext cx="3063240" cy="1719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ECDE1"/>
                </a:solidFill>
                <a:latin typeface="Aptos"/>
              </a:rPr>
              <a:t>Pessoas que precisam de ajuda para gerir ficheiros e compreender problemas do computador.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331720"/>
            <a:ext cx="3429000" cy="2468880"/>
          </a:xfrm>
          <a:prstGeom prst="roundRect">
            <a:avLst/>
          </a:prstGeom>
          <a:solidFill>
            <a:srgbClr val="1D304F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331720"/>
            <a:ext cx="64008" cy="24688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496312"/>
            <a:ext cx="3063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AFC"/>
                </a:solidFill>
                <a:latin typeface="Aptos"/>
              </a:rPr>
              <a:t>ABORDAGEM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953512"/>
            <a:ext cx="3063240" cy="1719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ECDE1"/>
                </a:solidFill>
                <a:latin typeface="Aptos"/>
              </a:rPr>
              <a:t>Complementar as ferramentas oficiais do Windows, sem as substituir.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349240"/>
            <a:ext cx="1033272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BBF24"/>
                </a:solidFill>
                <a:latin typeface="Aptos"/>
              </a:rPr>
              <a:t>As funcionalidades são propostas de desenvolvimento e deverão ser confirmadas durante a implementação e os testes.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74320"/>
            <a:ext cx="5029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BECDE1"/>
                </a:solidFill>
                <a:latin typeface="Aptos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109728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Aptos"/>
              </a:rPr>
              <a:t>Contextualização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10515600" cy="3977639"/>
          </a:xfrm>
          <a:prstGeom prst="rect">
            <a:avLst/>
          </a:prstGeom>
          <a:noFill/>
        </p:spPr>
        <p:txBody>
          <a:bodyPr wrap="square" lIns="73152" rIns="73152" tIns="73152" bIns="36576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O computador é utilizado para estudar, trabalhar, comunicar e armazenar informação.</a:t>
            </a:r>
          </a:p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Algumas tarefas exigem navegar por menus diferentes ou abrir várias aplicações.</a:t>
            </a:r>
          </a:p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Utilizadores com menos conhecimentos técnicos podem ter dificuldade em interpretar mensagens de erro.</a:t>
            </a:r>
          </a:p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Uma interface centralizada pode orientar o acesso às ferramentas adequadas.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74320"/>
            <a:ext cx="5029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BECDE1"/>
                </a:solidFill>
                <a:latin typeface="Aptos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109728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Aptos"/>
              </a:rPr>
              <a:t>Problema identificado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08813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BECDE1"/>
                </a:solidFill>
                <a:latin typeface="Aptos"/>
              </a:rPr>
              <a:t>A dificuldade em aceder e utilizar eficientemente as ferramentas do Windows.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3429000" cy="2468880"/>
          </a:xfrm>
          <a:prstGeom prst="roundRect">
            <a:avLst/>
          </a:prstGeom>
          <a:solidFill>
            <a:srgbClr val="1D304F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64008" cy="2468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50592"/>
            <a:ext cx="3063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AFC"/>
                </a:solidFill>
                <a:latin typeface="Aptos"/>
              </a:rPr>
              <a:t>FICHEIROS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07792"/>
            <a:ext cx="3063240" cy="1719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ECDE1"/>
                </a:solidFill>
                <a:latin typeface="Aptos"/>
              </a:rPr>
              <a:t>Localizar, pesquisar e organizar documentos.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286000"/>
            <a:ext cx="3429000" cy="2468880"/>
          </a:xfrm>
          <a:prstGeom prst="roundRect">
            <a:avLst/>
          </a:prstGeom>
          <a:solidFill>
            <a:srgbClr val="1D304F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286000"/>
            <a:ext cx="64008" cy="24688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450592"/>
            <a:ext cx="3063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AFC"/>
                </a:solidFill>
                <a:latin typeface="Aptos"/>
              </a:rPr>
              <a:t>DIAGNÓSTICO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907792"/>
            <a:ext cx="3063240" cy="1719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ECDE1"/>
                </a:solidFill>
                <a:latin typeface="Aptos"/>
              </a:rPr>
              <a:t>Consultar recursos e compreender possíveis erros.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286000"/>
            <a:ext cx="3429000" cy="2468880"/>
          </a:xfrm>
          <a:prstGeom prst="roundRect">
            <a:avLst/>
          </a:prstGeom>
          <a:solidFill>
            <a:srgbClr val="1D304F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286000"/>
            <a:ext cx="64008" cy="24688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450592"/>
            <a:ext cx="3063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AFC"/>
                </a:solidFill>
                <a:latin typeface="Aptos"/>
              </a:rPr>
              <a:t>MANUTENÇÃO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907792"/>
            <a:ext cx="3063240" cy="1719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ECDE1"/>
                </a:solidFill>
                <a:latin typeface="Aptos"/>
              </a:rPr>
              <a:t>Encontrar a ferramenta certa e perceber os riscos de cada operação.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212080"/>
            <a:ext cx="1042416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Aptos"/>
              </a:rPr>
              <a:t>Problema central: como tornar estas tarefas mais acessíveis, sem retirar o controlo ao utilizador?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INVESTIGAÇÃO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74320"/>
            <a:ext cx="5029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BECDE1"/>
                </a:solidFill>
                <a:latin typeface="Aptos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109728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Aptos"/>
              </a:rPr>
              <a:t>Pergunta de pesquisa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48840"/>
            <a:ext cx="10287000" cy="2057400"/>
          </a:xfrm>
          <a:prstGeom prst="roundRect">
            <a:avLst/>
          </a:prstGeom>
          <a:solidFill>
            <a:srgbClr val="1D304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487168"/>
            <a:ext cx="9555480" cy="1371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8FAFC"/>
                </a:solidFill>
                <a:latin typeface="Aptos"/>
              </a:rPr>
              <a:t>Como pode o desenvolvimento de uma aplicação inteligente integrada com o Windows facilitar a identificação e o diagnóstico de problemas informáticos, a gestão de ficheiros e a realização de tarefas comuns, sem substituir as ferramentas nativas do sistema operativo?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754880"/>
            <a:ext cx="95097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A resposta dependerá da implementação e dos testes funcionais.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JUSTIFICATIVA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74320"/>
            <a:ext cx="5029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BECDE1"/>
                </a:solidFill>
                <a:latin typeface="Aptos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109728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Aptos"/>
              </a:rPr>
              <a:t>Justificativa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10515600" cy="3977639"/>
          </a:xfrm>
          <a:prstGeom prst="rect">
            <a:avLst/>
          </a:prstGeom>
          <a:noFill/>
        </p:spPr>
        <p:txBody>
          <a:bodyPr wrap="square" lIns="73152" rIns="73152" tIns="73152" bIns="36576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Tornar determinadas tarefas informáticas mais acessíveis.</a:t>
            </a:r>
          </a:p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Reduzir a dispersão entre ferramentas diferentes.</a:t>
            </a:r>
          </a:p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Facilitar a consulta de informações e a orientação na resolução de problemas.</a:t>
            </a:r>
          </a:p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Aplicar conhecimentos de programação, interfaces gráficas, bases de dados e segurança informática.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OBJECTIVOS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74320"/>
            <a:ext cx="5029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BECDE1"/>
                </a:solidFill>
                <a:latin typeface="Aptos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109728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Aptos"/>
              </a:rPr>
              <a:t>Objectivo geral e objectivos específicos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5074920" cy="1417320"/>
          </a:xfrm>
          <a:prstGeom prst="roundRect">
            <a:avLst/>
          </a:prstGeom>
          <a:solidFill>
            <a:srgbClr val="1D304F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221992"/>
            <a:ext cx="4709159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AFC"/>
                </a:solidFill>
                <a:latin typeface="Aptos"/>
              </a:rPr>
              <a:t>OBJECTIVO GERAL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679192"/>
            <a:ext cx="4709159" cy="6675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BECDE1"/>
                </a:solidFill>
                <a:latin typeface="Aptos"/>
              </a:rPr>
              <a:t>Desenvolver uma aplicação inteligente de assistência para Windows.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57400"/>
            <a:ext cx="5074920" cy="3383280"/>
          </a:xfrm>
          <a:prstGeom prst="roundRect">
            <a:avLst/>
          </a:prstGeom>
          <a:solidFill>
            <a:srgbClr val="1D304F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2057400"/>
            <a:ext cx="64008" cy="3383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221992"/>
            <a:ext cx="4709159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AFC"/>
                </a:solidFill>
                <a:latin typeface="Aptos"/>
              </a:rPr>
              <a:t>OBJECTIVOS ESPECÍFICOS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679192"/>
            <a:ext cx="4709159" cy="2633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ECDE1"/>
                </a:solidFill>
                <a:latin typeface="Aptos"/>
              </a:rPr>
              <a:t>• Criar uma interface simples
• Pesquisar e organizar ficheiros
• Consultar dispositivos USB e recursos do sistema
• Orientar o diagnóstico
• Prever IA e pesquisa Web
• Tratar documentos e imagens
• Implementar confirmações de segurança
• Testar o funcionamento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HIPÓTESES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74320"/>
            <a:ext cx="5029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BECDE1"/>
                </a:solidFill>
                <a:latin typeface="Aptos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109728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Aptos"/>
              </a:rPr>
              <a:t>Hipóteses da investigação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08813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BECDE1"/>
                </a:solidFill>
                <a:latin typeface="Aptos"/>
              </a:rPr>
              <a:t>Proposições a verificar durante o desenvolvimento e os testes.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3520440" cy="2971800"/>
          </a:xfrm>
          <a:prstGeom prst="roundRect">
            <a:avLst/>
          </a:prstGeom>
          <a:solidFill>
            <a:srgbClr val="1D304F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64008" cy="2971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267712"/>
            <a:ext cx="31546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AFC"/>
                </a:solidFill>
                <a:latin typeface="Aptos"/>
              </a:rPr>
              <a:t>H1 — PRINCIPAL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24912"/>
            <a:ext cx="3154680" cy="22219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ECDE1"/>
                </a:solidFill>
                <a:latin typeface="Aptos"/>
              </a:rPr>
              <a:t>Uma interface intuitiva e ferramentas integradas poderão facilitar tarefas comuns e o diagnóstico.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03120"/>
            <a:ext cx="3520440" cy="2971800"/>
          </a:xfrm>
          <a:prstGeom prst="roundRect">
            <a:avLst/>
          </a:prstGeom>
          <a:solidFill>
            <a:srgbClr val="1D304F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103120"/>
            <a:ext cx="64008" cy="2971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267712"/>
            <a:ext cx="31546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AFC"/>
                </a:solidFill>
                <a:latin typeface="Aptos"/>
              </a:rPr>
              <a:t>H2 — SECUNDÁRIA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724912"/>
            <a:ext cx="3154680" cy="22219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ECDE1"/>
                </a:solidFill>
                <a:latin typeface="Aptos"/>
              </a:rPr>
              <a:t>A centralização poderá reduzir o tempo e simplificar procedimentos.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2103120"/>
            <a:ext cx="3520440" cy="2971800"/>
          </a:xfrm>
          <a:prstGeom prst="roundRect">
            <a:avLst/>
          </a:prstGeom>
          <a:solidFill>
            <a:srgbClr val="1D304F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2103120"/>
            <a:ext cx="64008" cy="2971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2267712"/>
            <a:ext cx="31546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AFC"/>
                </a:solidFill>
                <a:latin typeface="Aptos"/>
              </a:rPr>
              <a:t>H3 — SEGURANÇA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724912"/>
            <a:ext cx="3154680" cy="22219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ECDE1"/>
                </a:solidFill>
                <a:latin typeface="Aptos"/>
              </a:rPr>
              <a:t>Autorizações, confirmações e registos poderão contribuir para uma utilização mais segura.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86400"/>
            <a:ext cx="102412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BBF24"/>
                </a:solidFill>
                <a:latin typeface="Aptos"/>
              </a:rPr>
              <a:t>As hipóteses ainda não são resultados comprovados.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CASO DE ESTUDO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74320"/>
            <a:ext cx="5029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BECDE1"/>
                </a:solidFill>
                <a:latin typeface="Aptos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109728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Aptos"/>
              </a:rPr>
              <a:t>Caso de estudo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10515600" cy="3977639"/>
          </a:xfrm>
          <a:prstGeom prst="rect">
            <a:avLst/>
          </a:prstGeom>
          <a:noFill/>
        </p:spPr>
        <p:txBody>
          <a:bodyPr wrap="square" lIns="73152" rIns="73152" tIns="73152" bIns="36576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O caso de estudo é o desenvolvimento da aplicação Windows Assistant.</a:t>
            </a:r>
          </a:p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A proposta centraliza gestão de ficheiros, identificação de USB e consulta de informações do sistema.</a:t>
            </a:r>
          </a:p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Inclui orientação para diagnóstico e tratamento de documentos.</a:t>
            </a:r>
          </a:p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Operações sensíveis deverão depender da autorização do utilizador.</a:t>
            </a:r>
          </a:p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A aplicação complementará as ferramentas oficiais do Windows.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ESTUDO COMPARADO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74320"/>
            <a:ext cx="5029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BECDE1"/>
                </a:solidFill>
                <a:latin typeface="Aptos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109728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Aptos"/>
              </a:rPr>
              <a:t>Três formas de realizar tarefas informáticas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3429000" cy="2971800"/>
          </a:xfrm>
          <a:prstGeom prst="roundRect">
            <a:avLst/>
          </a:prstGeom>
          <a:solidFill>
            <a:srgbClr val="1D304F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48840"/>
            <a:ext cx="64008" cy="2971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313432"/>
            <a:ext cx="3063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AFC"/>
                </a:solidFill>
                <a:latin typeface="Aptos"/>
              </a:rPr>
              <a:t>MÉTODO MANUAL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770632"/>
            <a:ext cx="3063240" cy="22219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ECDE1"/>
                </a:solidFill>
                <a:latin typeface="Aptos"/>
              </a:rPr>
              <a:t>Acesso directo aos menus e ferramentas do Windows.
Limitação: pode exigir conhecimento dos caminhos e comandos.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48840"/>
            <a:ext cx="3429000" cy="2971800"/>
          </a:xfrm>
          <a:prstGeom prst="roundRect">
            <a:avLst/>
          </a:prstGeom>
          <a:solidFill>
            <a:srgbClr val="1D304F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148840"/>
            <a:ext cx="64008" cy="2971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313432"/>
            <a:ext cx="3063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AFC"/>
                </a:solidFill>
                <a:latin typeface="Aptos"/>
              </a:rPr>
              <a:t>FERRAMENTAS SEPARADAS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770632"/>
            <a:ext cx="3063240" cy="22219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ECDE1"/>
                </a:solidFill>
                <a:latin typeface="Aptos"/>
              </a:rPr>
              <a:t>Aplicações especializadas para cada tarefa.
Limitação: várias interfaces e actualizações.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48840"/>
            <a:ext cx="3429000" cy="2971800"/>
          </a:xfrm>
          <a:prstGeom prst="roundRect">
            <a:avLst/>
          </a:prstGeom>
          <a:solidFill>
            <a:srgbClr val="1D304F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148840"/>
            <a:ext cx="64008" cy="2971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313432"/>
            <a:ext cx="3063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AFC"/>
                </a:solidFill>
                <a:latin typeface="Aptos"/>
              </a:rPr>
              <a:t>WINDOWS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770632"/>
            <a:ext cx="3063240" cy="22219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ECDE1"/>
                </a:solidFill>
                <a:latin typeface="Aptos"/>
              </a:rPr>
              <a:t>Interface centralizada com orientação e acesso a ferramentas nativas.
A vantagem precisa de ser testada.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FUNCIONALIDADES PREVISTAS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74320"/>
            <a:ext cx="5029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BECDE1"/>
                </a:solidFill>
                <a:latin typeface="Aptos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109728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Aptos"/>
              </a:rPr>
              <a:t>O que a aplicação poderá reunir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3429000" cy="1508760"/>
          </a:xfrm>
          <a:prstGeom prst="roundRect">
            <a:avLst/>
          </a:prstGeom>
          <a:solidFill>
            <a:srgbClr val="1D304F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57400"/>
            <a:ext cx="64008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221992"/>
            <a:ext cx="3063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Ficheiros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79192"/>
            <a:ext cx="3063240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ECDE1"/>
                </a:solidFill>
                <a:latin typeface="Aptos"/>
              </a:rPr>
              <a:t>Pesquisar, localizar e organizar documentos.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57400"/>
            <a:ext cx="3429000" cy="1508760"/>
          </a:xfrm>
          <a:prstGeom prst="roundRect">
            <a:avLst/>
          </a:prstGeom>
          <a:solidFill>
            <a:srgbClr val="1D304F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057400"/>
            <a:ext cx="64008" cy="1508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221992"/>
            <a:ext cx="3063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USB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679192"/>
            <a:ext cx="3063240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ECDE1"/>
                </a:solidFill>
                <a:latin typeface="Aptos"/>
              </a:rPr>
              <a:t>Identificar e consultar dispositivos ligados.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057400"/>
            <a:ext cx="3429000" cy="1508760"/>
          </a:xfrm>
          <a:prstGeom prst="roundRect">
            <a:avLst/>
          </a:prstGeom>
          <a:solidFill>
            <a:srgbClr val="1D304F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057400"/>
            <a:ext cx="64008" cy="150876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221992"/>
            <a:ext cx="3063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Sistema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679192"/>
            <a:ext cx="3063240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ECDE1"/>
                </a:solidFill>
                <a:latin typeface="Aptos"/>
              </a:rPr>
              <a:t>Consultar CPU, RAM e armazenamento.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77639"/>
            <a:ext cx="3429000" cy="1508760"/>
          </a:xfrm>
          <a:prstGeom prst="roundRect">
            <a:avLst/>
          </a:prstGeom>
          <a:solidFill>
            <a:srgbClr val="1D304F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977639"/>
            <a:ext cx="64008" cy="15087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142231"/>
            <a:ext cx="3063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Diagnóstico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599431"/>
            <a:ext cx="3063240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ECDE1"/>
                </a:solidFill>
                <a:latin typeface="Aptos"/>
              </a:rPr>
              <a:t>Orientar o uso de ferramentas nativas.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977639"/>
            <a:ext cx="3429000" cy="1508760"/>
          </a:xfrm>
          <a:prstGeom prst="roundRect">
            <a:avLst/>
          </a:prstGeom>
          <a:solidFill>
            <a:srgbClr val="1D304F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977639"/>
            <a:ext cx="64008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4142231"/>
            <a:ext cx="3063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Documentos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599431"/>
            <a:ext cx="3063240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ECDE1"/>
                </a:solidFill>
                <a:latin typeface="Aptos"/>
              </a:rPr>
              <a:t>Apoiar conversão e tratamento de imagens.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977639"/>
            <a:ext cx="3429000" cy="1508760"/>
          </a:xfrm>
          <a:prstGeom prst="roundRect">
            <a:avLst/>
          </a:prstGeom>
          <a:solidFill>
            <a:srgbClr val="1D304F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3977639"/>
            <a:ext cx="64008" cy="1508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4142231"/>
            <a:ext cx="3063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Assistência 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599431"/>
            <a:ext cx="3063240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ECDE1"/>
                </a:solidFill>
                <a:latin typeface="Aptos"/>
              </a:rPr>
              <a:t>Responder a perguntas e pesquisar na Web.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TECNOLOGIAS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74320"/>
            <a:ext cx="5029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BECDE1"/>
                </a:solidFill>
                <a:latin typeface="Aptos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109728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Aptos"/>
              </a:rPr>
              <a:t>Tecnologias previstas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08813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BECDE1"/>
                </a:solidFill>
                <a:latin typeface="Aptos"/>
              </a:rPr>
              <a:t>Cada tecnologia terá uma função específica na aplicação.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429000" cy="1554480"/>
          </a:xfrm>
          <a:prstGeom prst="roundRect">
            <a:avLst/>
          </a:prstGeom>
          <a:solidFill>
            <a:srgbClr val="1D304F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64008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3063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AFC"/>
                </a:solidFill>
                <a:latin typeface="Aptos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33472"/>
            <a:ext cx="3063240" cy="8046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ECDE1"/>
                </a:solidFill>
                <a:latin typeface="Aptos"/>
              </a:rPr>
              <a:t>Lógica principal e coordenação dos módulos.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3429000" cy="1554480"/>
          </a:xfrm>
          <a:prstGeom prst="roundRect">
            <a:avLst/>
          </a:prstGeom>
          <a:solidFill>
            <a:srgbClr val="1D304F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011680"/>
            <a:ext cx="64008" cy="1554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176272"/>
            <a:ext cx="3063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AFC"/>
                </a:solidFill>
                <a:latin typeface="Aptos"/>
              </a:rPr>
              <a:t>PYSIDE6 / QT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633472"/>
            <a:ext cx="3063240" cy="8046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ECDE1"/>
                </a:solidFill>
                <a:latin typeface="Aptos"/>
              </a:rPr>
              <a:t>Janela, menus, botões e formulários.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429000" cy="1554480"/>
          </a:xfrm>
          <a:prstGeom prst="roundRect">
            <a:avLst/>
          </a:prstGeom>
          <a:solidFill>
            <a:srgbClr val="1D304F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011680"/>
            <a:ext cx="64008" cy="15544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176272"/>
            <a:ext cx="3063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AFC"/>
                </a:solidFill>
                <a:latin typeface="Aptos"/>
              </a:rPr>
              <a:t>SQLITE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633472"/>
            <a:ext cx="3063240" cy="8046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ECDE1"/>
                </a:solidFill>
                <a:latin typeface="Aptos"/>
              </a:rPr>
              <a:t>Preferências, histórico e registos locais.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60320" y="4069080"/>
            <a:ext cx="3429000" cy="1554480"/>
          </a:xfrm>
          <a:prstGeom prst="roundRect">
            <a:avLst/>
          </a:prstGeom>
          <a:solidFill>
            <a:srgbClr val="1D304F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60320" y="4069080"/>
            <a:ext cx="64008" cy="15544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61488" y="4233672"/>
            <a:ext cx="3063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FERRAMENTAS WINDOWS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1488" y="4690872"/>
            <a:ext cx="3063240" cy="8046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ECDE1"/>
                </a:solidFill>
                <a:latin typeface="Aptos"/>
              </a:rPr>
              <a:t>Consulta do sistema e orientação de manutenção.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069080"/>
            <a:ext cx="3429000" cy="1554480"/>
          </a:xfrm>
          <a:prstGeom prst="roundRect">
            <a:avLst/>
          </a:prstGeom>
          <a:solidFill>
            <a:srgbClr val="1D304F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4069080"/>
            <a:ext cx="64008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4233672"/>
            <a:ext cx="3063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BIBLIOTECAS / APIs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4690872"/>
            <a:ext cx="3063240" cy="8046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ECDE1"/>
                </a:solidFill>
                <a:latin typeface="Aptos"/>
              </a:rPr>
              <a:t>Documentos, imagens e possíveis funções de IA/Web.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74320"/>
            <a:ext cx="5029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BECDE1"/>
                </a:solidFill>
                <a:latin typeface="Aptos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109728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Aptos"/>
              </a:rPr>
              <a:t>Organização geral da aplicação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286000" cy="960120"/>
          </a:xfrm>
          <a:prstGeom prst="roundRect">
            <a:avLst/>
          </a:prstGeom>
          <a:solidFill>
            <a:srgbClr val="1D304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103120" cy="7772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Interface gráfica
PySide6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148840"/>
            <a:ext cx="2286000" cy="960120"/>
          </a:xfrm>
          <a:prstGeom prst="roundRect">
            <a:avLst/>
          </a:prstGeom>
          <a:solidFill>
            <a:srgbClr val="1D304F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103120" cy="7772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Núcleo da aplicação
Python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48840"/>
            <a:ext cx="2286000" cy="960120"/>
          </a:xfrm>
          <a:prstGeom prst="roundRect">
            <a:avLst/>
          </a:prstGeom>
          <a:solidFill>
            <a:srgbClr val="1D304F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2286000"/>
            <a:ext cx="2103120" cy="7772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Módulos
USB • ficheiros • sistema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2148840"/>
            <a:ext cx="2286000" cy="960120"/>
          </a:xfrm>
          <a:prstGeom prst="roundRect">
            <a:avLst/>
          </a:prstGeom>
          <a:solidFill>
            <a:srgbClr val="1D304F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2286000"/>
            <a:ext cx="2103120" cy="7772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Dados locais
SQLite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08960" y="2633472"/>
            <a:ext cx="41148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806440" y="2633472"/>
            <a:ext cx="41148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03920" y="2633472"/>
            <a:ext cx="41148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828800" y="3977639"/>
            <a:ext cx="3657600" cy="1143000"/>
          </a:xfrm>
          <a:prstGeom prst="roundRect">
            <a:avLst/>
          </a:prstGeom>
          <a:solidFill>
            <a:srgbClr val="1D304F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0" y="3977639"/>
            <a:ext cx="64008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29968" y="4142231"/>
            <a:ext cx="32918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SERVIÇOS DO WINDOWS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8" y="4599431"/>
            <a:ext cx="3291840" cy="3931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ECDE1"/>
                </a:solidFill>
                <a:latin typeface="Aptos"/>
              </a:rPr>
              <a:t>Ferramentas nativas e informações do sistema.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977639"/>
            <a:ext cx="3657600" cy="1143000"/>
          </a:xfrm>
          <a:prstGeom prst="roundRect">
            <a:avLst/>
          </a:prstGeom>
          <a:solidFill>
            <a:srgbClr val="1D304F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3977639"/>
            <a:ext cx="64008" cy="1143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4142231"/>
            <a:ext cx="32918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RECURSOS EXTERNOS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4599431"/>
            <a:ext cx="3291840" cy="3931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ECDE1"/>
                </a:solidFill>
                <a:latin typeface="Aptos"/>
              </a:rPr>
              <a:t>IA e pesquisa Web, se disponíveis.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623560"/>
            <a:ext cx="8686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BBF24"/>
                </a:solidFill>
                <a:latin typeface="Aptos"/>
              </a:rPr>
              <a:t>As operações sensíveis passam por validação e autorização.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SEGURANÇA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74320"/>
            <a:ext cx="5029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BECDE1"/>
                </a:solidFill>
                <a:latin typeface="Aptos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109728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Aptos"/>
              </a:rPr>
              <a:t>Segurança e integridade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10515600" cy="3977639"/>
          </a:xfrm>
          <a:prstGeom prst="rect">
            <a:avLst/>
          </a:prstGeom>
          <a:noFill/>
        </p:spPr>
        <p:txBody>
          <a:bodyPr wrap="square" lIns="73152" rIns="73152" tIns="73152" bIns="36576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Solicitar confirmação antes de eliminar ficheiros ou alterar configurações.</a:t>
            </a:r>
          </a:p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Utilizar apenas as permissões necessárias.</a:t>
            </a:r>
          </a:p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Explicar quando uma operação exige privilégios de administrador.</a:t>
            </a:r>
          </a:p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Registar actividades relevantes sem guardar dados sensíveis desnecessários.</a:t>
            </a:r>
          </a:p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Respeitar as ferramentas e os mecanismos de segurança do Windows.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VALIDAÇÃO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74320"/>
            <a:ext cx="5029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BECDE1"/>
                </a:solidFill>
                <a:latin typeface="Aptos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109728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Aptos"/>
              </a:rPr>
              <a:t>Testes e implementação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10515600" cy="3977639"/>
          </a:xfrm>
          <a:prstGeom prst="rect">
            <a:avLst/>
          </a:prstGeom>
          <a:noFill/>
        </p:spPr>
        <p:txBody>
          <a:bodyPr wrap="square" lIns="73152" rIns="73152" tIns="73152" bIns="36576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Testar primeiro cada componente de forma individual.</a:t>
            </a:r>
          </a:p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Verificar menus, botões, armazenamento e tratamento de erros.</a:t>
            </a:r>
          </a:p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Realizar testes funcionais de pesquisa de ficheiros, USB e consulta do sistema.</a:t>
            </a:r>
          </a:p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Confirmar permissões e comportamento antes de operações sensíveis.</a:t>
            </a:r>
          </a:p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Corrigir falhas e actualizar a aplicação de forma gradual.</a:t>
            </a:r>
          </a:p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O instalador WindowsAssistant_Setup.exe é um resultado pretendido, não uma funcionalidade já comprovada.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CONTRIBUTO ESPERADO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74320"/>
            <a:ext cx="5029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BECDE1"/>
                </a:solidFill>
                <a:latin typeface="Aptos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109728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Aptos"/>
              </a:rPr>
              <a:t>Resultados que se pretende alcançar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3429000" cy="2468880"/>
          </a:xfrm>
          <a:prstGeom prst="roundRect">
            <a:avLst/>
          </a:prstGeom>
          <a:solidFill>
            <a:srgbClr val="1D304F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64008" cy="2468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404872"/>
            <a:ext cx="3063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AFC"/>
                </a:solidFill>
                <a:latin typeface="Aptos"/>
              </a:rPr>
              <a:t>SIMPLICIDADE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62072"/>
            <a:ext cx="3063240" cy="1719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ECDE1"/>
                </a:solidFill>
                <a:latin typeface="Aptos"/>
              </a:rPr>
              <a:t>Acesso mais claro às tarefas comuns do computador.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240280"/>
            <a:ext cx="3429000" cy="2468880"/>
          </a:xfrm>
          <a:prstGeom prst="roundRect">
            <a:avLst/>
          </a:prstGeom>
          <a:solidFill>
            <a:srgbClr val="1D304F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240280"/>
            <a:ext cx="64008" cy="24688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404872"/>
            <a:ext cx="3063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AFC"/>
                </a:solidFill>
                <a:latin typeface="Aptos"/>
              </a:rPr>
              <a:t>CENTRALIZAÇÃO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862072"/>
            <a:ext cx="3063240" cy="1719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ECDE1"/>
                </a:solidFill>
                <a:latin typeface="Aptos"/>
              </a:rPr>
              <a:t>Menos dispersão entre menus e ferramentas.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240280"/>
            <a:ext cx="3429000" cy="2468880"/>
          </a:xfrm>
          <a:prstGeom prst="roundRect">
            <a:avLst/>
          </a:prstGeom>
          <a:solidFill>
            <a:srgbClr val="1D304F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240280"/>
            <a:ext cx="64008" cy="24688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404872"/>
            <a:ext cx="3063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AFC"/>
                </a:solidFill>
                <a:latin typeface="Aptos"/>
              </a:rPr>
              <a:t>CONTROLO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862072"/>
            <a:ext cx="3063240" cy="1719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ECDE1"/>
                </a:solidFill>
                <a:latin typeface="Aptos"/>
              </a:rPr>
              <a:t>Operações sensíveis sujeitas a confirmação e autorização.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102412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BBF24"/>
                </a:solidFill>
                <a:latin typeface="Aptos"/>
              </a:rPr>
              <a:t>Estes são benefícios esperados e devem ser avaliados por testes.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74320"/>
            <a:ext cx="5029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BECDE1"/>
                </a:solidFill>
                <a:latin typeface="Aptos"/>
              </a:rP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109728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Aptos"/>
              </a:rPr>
              <a:t>Conclusão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10515600" cy="3977639"/>
          </a:xfrm>
          <a:prstGeom prst="rect">
            <a:avLst/>
          </a:prstGeom>
          <a:noFill/>
        </p:spPr>
        <p:txBody>
          <a:bodyPr wrap="square" lIns="73152" rIns="73152" tIns="73152" bIns="36576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O Windows Assistant propõe reunir ferramentas e orientações numa aplicação de ambiente de trabalho.</a:t>
            </a:r>
          </a:p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Python, PySide6 e SQLite formam a base tecnológica prevista.</a:t>
            </a:r>
          </a:p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A segurança, as confirmações e os testes são essenciais para uma utilização responsável.</a:t>
            </a:r>
          </a:p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A utilidade e os benefícios do sistema só poderão ser confirmados após a implementação e avaliação.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74320"/>
            <a:ext cx="5029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BECDE1"/>
                </a:solidFill>
                <a:latin typeface="Aptos"/>
              </a:rP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109728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Aptos"/>
              </a:rP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10241280" cy="2560320"/>
          </a:xfrm>
          <a:prstGeom prst="rect">
            <a:avLst/>
          </a:prstGeom>
          <a:noFill/>
        </p:spPr>
        <p:txBody>
          <a:bodyPr wrap="square" lIns="73152" rIns="73152" tIns="73152" bIns="36576">
            <a:spAutoFit/>
          </a:bodyPr>
          <a:lstStyle/>
          <a:p>
            <a:pPr>
              <a:spcAft>
                <a:spcPts val="17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MICROSOFT. SFC (System File Checker). Microsoft Learn.</a:t>
            </a:r>
          </a:p>
          <a:p>
            <a:pPr>
              <a:spcAft>
                <a:spcPts val="17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PYTHON SOFTWARE FOUNDATION. Python Documentation.</a:t>
            </a:r>
          </a:p>
          <a:p>
            <a:pPr>
              <a:spcAft>
                <a:spcPts val="17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QT FOR PYTHON. Qt for Python Documentation.</a:t>
            </a:r>
          </a:p>
          <a:p>
            <a:pPr>
              <a:spcAft>
                <a:spcPts val="17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SQLITE. SQLite Documentation.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617720"/>
            <a:ext cx="100584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D3EE"/>
                </a:solidFill>
                <a:latin typeface="Aptos"/>
              </a:rPr>
              <a:t>learn.microsoft.com/windows-server/administration/windows-commands/sfc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983480"/>
            <a:ext cx="10058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D3EE"/>
                </a:solidFill>
                <a:latin typeface="Aptos"/>
              </a:rPr>
              <a:t>docs.python.org/3/   •   doc.qt.io/qtforpython-6/   •   sqlite.org/docs.html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623560"/>
            <a:ext cx="9601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BECDE1"/>
                </a:solidFill>
                <a:latin typeface="Aptos"/>
              </a:rPr>
              <a:t>Acesso indicado no trabalho: 24 de Outubro de 2026.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914400"/>
            <a:ext cx="1554480" cy="1554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822960"/>
            <a:ext cx="1920240" cy="19202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931920"/>
            <a:ext cx="2194560" cy="2194560"/>
          </a:xfrm>
          <a:prstGeom prst="ellipse">
            <a:avLst/>
          </a:prstGeom>
          <a:solidFill>
            <a:srgbClr val="1D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874519"/>
            <a:ext cx="81381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8FAFC"/>
                </a:solidFill>
                <a:latin typeface="Aptos"/>
              </a:rPr>
              <a:t>OBRIGADO!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971800"/>
            <a:ext cx="850392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BECDE1"/>
                </a:solidFill>
                <a:latin typeface="Aptos"/>
              </a:rPr>
              <a:t>Estou disponível para responder às questões do júri.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257800"/>
            <a:ext cx="85039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22D3EE"/>
                </a:solidFill>
                <a:latin typeface="Aptos"/>
              </a:rPr>
              <a:t>Windows Assistant • Projecto de Aptidão Profissional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