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4" r:id="rId4"/>
    <p:sldId id="267" r:id="rId5"/>
    <p:sldId id="268" r:id="rId6"/>
    <p:sldId id="277" r:id="rId7"/>
    <p:sldId id="269" r:id="rId8"/>
    <p:sldId id="278" r:id="rId9"/>
    <p:sldId id="279" r:id="rId10"/>
    <p:sldId id="280" r:id="rId11"/>
    <p:sldId id="281" r:id="rId12"/>
    <p:sldId id="282" r:id="rId13"/>
    <p:sldId id="270" r:id="rId14"/>
    <p:sldId id="273" r:id="rId15"/>
    <p:sldId id="274" r:id="rId16"/>
    <p:sldId id="275" r:id="rId17"/>
    <p:sldId id="276" r:id="rId1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84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29484" y="707828"/>
            <a:ext cx="3138170" cy="791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9494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9494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5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4182" cy="113085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298146" y="4488083"/>
            <a:ext cx="1570990" cy="0"/>
          </a:xfrm>
          <a:custGeom>
            <a:avLst/>
            <a:gdLst/>
            <a:ahLst/>
            <a:cxnLst/>
            <a:rect l="l" t="t" r="r" b="b"/>
            <a:pathLst>
              <a:path w="1570990">
                <a:moveTo>
                  <a:pt x="0" y="0"/>
                </a:moveTo>
                <a:lnTo>
                  <a:pt x="1570632" y="0"/>
                </a:lnTo>
              </a:path>
            </a:pathLst>
          </a:custGeom>
          <a:ln w="23559">
            <a:solidFill>
              <a:srgbClr val="EF70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4182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6929" y="724188"/>
            <a:ext cx="7312025" cy="771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50" b="0" i="0">
                <a:solidFill>
                  <a:srgbClr val="1D1D1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03872" y="4951808"/>
            <a:ext cx="8087359" cy="272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94949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static.vecteezy.com/system/resources/previews/O&#243;8/497/470/non" TargetMode="External"/><Relationship Id="rId3" Type="http://schemas.openxmlformats.org/officeDocument/2006/relationships/image" Target="../media/image19.jpg"/><Relationship Id="rId7" Type="http://schemas.openxmlformats.org/officeDocument/2006/relationships/hyperlink" Target="http://www.istockphoto.com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a.istockphoto.com/id/672320826/photo/large-hangar-warehouse-industrial-and-logistics-companies.jpg?s=6" TargetMode="External"/><Relationship Id="rId5" Type="http://schemas.openxmlformats.org/officeDocument/2006/relationships/hyperlink" Target="http://www.cuatrecasas.com/images/cache/publication" TargetMode="External"/><Relationship Id="rId4" Type="http://schemas.openxmlformats.org/officeDocument/2006/relationships/hyperlink" Target="https://cdn.dribbbIe.com/userupIoad/46846178/file/77ac74a&#243;8a1a4cO&#243;Odcf98cf91O1a4fO.png?resize=4OOxO" TargetMode="External"/><Relationship Id="rId9" Type="http://schemas.openxmlformats.org/officeDocument/2006/relationships/hyperlink" Target="http://www.vecteez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184650" y="2872029"/>
            <a:ext cx="11582399" cy="16780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/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INSTITUTO MÉDIO COMERCIAL DE LUANDA </a:t>
            </a:r>
          </a:p>
          <a:p>
            <a:pPr algn="ctr"/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COORDENAÇÃO DO CURSO DE INFORMÁTICA</a:t>
            </a: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0494" y="4882438"/>
            <a:ext cx="16363315" cy="1736373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508125" marR="5080" indent="-1496060" algn="ctr">
              <a:lnSpc>
                <a:spcPts val="6310"/>
              </a:lnSpc>
              <a:spcBef>
                <a:spcPts val="690"/>
              </a:spcBef>
            </a:pPr>
            <a:r>
              <a:rPr sz="4800" b="1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CRIAÇ</a:t>
            </a:r>
            <a:r>
              <a:rPr lang="pt-PT" sz="4800" b="1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Ã</a:t>
            </a:r>
            <a:r>
              <a:rPr sz="4800" b="1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800" b="1" spc="-1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6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4800" b="1" spc="-3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2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</a:t>
            </a:r>
            <a:r>
              <a:rPr sz="4800" b="1" spc="-2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3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SISTEMA</a:t>
            </a:r>
            <a:r>
              <a:rPr sz="4800" b="1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6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4800" b="1" spc="-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5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</a:t>
            </a:r>
            <a:r>
              <a:rPr lang="pt-PT" sz="4800" b="1" spc="-5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Ã</a:t>
            </a:r>
            <a:r>
              <a:rPr sz="4800" b="1" spc="-5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800" b="1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3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COMERCIAL: </a:t>
            </a:r>
            <a:endParaRPr lang="pt-PT" sz="4800" b="1" spc="-33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08125" marR="5080" indent="-1496060" algn="ctr">
              <a:lnSpc>
                <a:spcPts val="6310"/>
              </a:lnSpc>
              <a:spcBef>
                <a:spcPts val="690"/>
              </a:spcBef>
            </a:pPr>
            <a:r>
              <a:rPr sz="4800" b="1" spc="-25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</a:t>
            </a:r>
            <a:r>
              <a:rPr sz="4800" b="1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4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LAURA</a:t>
            </a:r>
            <a:r>
              <a:rPr sz="48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5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CONSTRUÇÕES</a:t>
            </a:r>
            <a:r>
              <a:rPr sz="4800" b="1" spc="5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5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GERAIS</a:t>
            </a:r>
            <a:r>
              <a:rPr sz="4800" b="1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43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LDA</a:t>
            </a:r>
            <a:endParaRPr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68956D7E-79C1-0067-EF12-26DCECC5DE45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250" y="597998"/>
            <a:ext cx="4152900" cy="159274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AA0570D-FEF1-6B5B-1350-5648720DF48C}"/>
              </a:ext>
            </a:extLst>
          </p:cNvPr>
          <p:cNvSpPr txBox="1"/>
          <p:nvPr/>
        </p:nvSpPr>
        <p:spPr>
          <a:xfrm>
            <a:off x="8147050" y="9617075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b="1" dirty="0"/>
              <a:t>LUANDA 2025/206</a:t>
            </a:r>
            <a:endParaRPr lang="pt-PT" b="1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2" name="bomb.wav"/>
          </p:stSnd>
        </p:sndAc>
      </p:transition>
    </mc:Choice>
    <mc:Fallback xmlns="">
      <p:transition spd="slow">
        <p:fade/>
        <p:sndAc>
          <p:stSnd>
            <p:snd r:embed="rId4" name="bomb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6929" y="724188"/>
            <a:ext cx="7312025" cy="785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125"/>
              </a:spcBef>
            </a:pPr>
            <a:r>
              <a:rPr sz="5000" spc="-10" dirty="0" err="1">
                <a:solidFill>
                  <a:srgbClr val="232323"/>
                </a:solidFill>
                <a:latin typeface="Calibri"/>
                <a:cs typeface="Calibri"/>
              </a:rPr>
              <a:t>Introduç</a:t>
            </a:r>
            <a:r>
              <a:rPr lang="pt-PT" sz="5000" spc="-10" dirty="0">
                <a:solidFill>
                  <a:srgbClr val="232323"/>
                </a:solidFill>
                <a:latin typeface="Calibri"/>
                <a:cs typeface="Calibri"/>
              </a:rPr>
              <a:t>ão</a:t>
            </a:r>
            <a:endParaRPr sz="5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08050" y="2149475"/>
            <a:ext cx="18364200" cy="89827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transformação digital tornou-se essencial para melhorar a gestão das empresas.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Dona Laura Construções Lda enfrenta dificuldades causadas por processos manuais.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projeto propõe um sistema web para integrar vendas, stock e gestão financeira.</a:t>
            </a: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Problemática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Falta de controlo eficiente do stock.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Erros nos registos de vendas.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Dificuldade no cálculo do lucro e gestão financeir</a:t>
            </a: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</a:p>
          <a:p>
            <a:pPr algn="just">
              <a:lnSpc>
                <a:spcPct val="150000"/>
              </a:lnSpc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Hipóteses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automatização reduzirá erros no inventário.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sistema permitirá melhor controlo financeiro.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segurança dos dados será reforçada através de tecnologias modernas.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Geral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e implementar um sistema web de gestão comercial e controlo de stock para automatizar os processos da empresa.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4182" cy="113085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8161" y="5355857"/>
            <a:ext cx="801022" cy="7224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90804" y="5355857"/>
            <a:ext cx="722491" cy="7224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27796" y="5355857"/>
            <a:ext cx="895260" cy="73819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125"/>
              </a:spcBef>
            </a:pPr>
            <a:r>
              <a:rPr sz="5000" spc="60" dirty="0">
                <a:solidFill>
                  <a:srgbClr val="1A1A1A"/>
                </a:solidFill>
                <a:latin typeface="Calibri"/>
                <a:cs typeface="Calibri"/>
              </a:rPr>
              <a:t>Delimitoçóo</a:t>
            </a:r>
            <a:r>
              <a:rPr sz="5000" spc="18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5000" spc="180" dirty="0">
                <a:solidFill>
                  <a:srgbClr val="1F1F1F"/>
                </a:solidFill>
                <a:latin typeface="Calibri"/>
                <a:cs typeface="Calibri"/>
              </a:rPr>
              <a:t>do</a:t>
            </a:r>
            <a:r>
              <a:rPr sz="5000" spc="-3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5000" spc="-10" dirty="0">
                <a:solidFill>
                  <a:srgbClr val="232323"/>
                </a:solidFill>
                <a:latin typeface="Calibri"/>
                <a:cs typeface="Calibri"/>
              </a:rPr>
              <a:t>Projecto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6523" y="6381084"/>
            <a:ext cx="3154045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88670" marR="5080" indent="-776605">
              <a:lnSpc>
                <a:spcPct val="117800"/>
              </a:lnSpc>
              <a:spcBef>
                <a:spcPts val="90"/>
              </a:spcBef>
            </a:pPr>
            <a:r>
              <a:rPr sz="2800" spc="-60" dirty="0">
                <a:solidFill>
                  <a:srgbClr val="444444"/>
                </a:solidFill>
                <a:latin typeface="Calibri"/>
                <a:cs typeface="Calibri"/>
              </a:rPr>
              <a:t>Espaço:</a:t>
            </a:r>
            <a:r>
              <a:rPr sz="2800" spc="-10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4B4B4B"/>
                </a:solidFill>
                <a:latin typeface="Calibri"/>
                <a:cs typeface="Calibri"/>
              </a:rPr>
              <a:t>Luanda</a:t>
            </a:r>
            <a:r>
              <a:rPr sz="2800" spc="-6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F4F4F"/>
                </a:solidFill>
                <a:latin typeface="Calibri"/>
                <a:cs typeface="Calibri"/>
              </a:rPr>
              <a:t>-</a:t>
            </a:r>
            <a:r>
              <a:rPr sz="2800" spc="-12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55" dirty="0">
                <a:solidFill>
                  <a:srgbClr val="4B4B4B"/>
                </a:solidFill>
                <a:latin typeface="Calibri"/>
                <a:cs typeface="Calibri"/>
              </a:rPr>
              <a:t>Viana </a:t>
            </a:r>
            <a:r>
              <a:rPr sz="2800" spc="-30" dirty="0">
                <a:solidFill>
                  <a:srgbClr val="424242"/>
                </a:solidFill>
                <a:latin typeface="Calibri"/>
                <a:cs typeface="Calibri"/>
              </a:rPr>
              <a:t>(Estalagem)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1896" y="6381084"/>
            <a:ext cx="3578225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9905" marR="5080" indent="-497840">
              <a:lnSpc>
                <a:spcPct val="117800"/>
              </a:lnSpc>
              <a:spcBef>
                <a:spcPts val="90"/>
              </a:spcBef>
            </a:pPr>
            <a:r>
              <a:rPr sz="2800" spc="-95" dirty="0">
                <a:solidFill>
                  <a:srgbClr val="4D4D4D"/>
                </a:solidFill>
                <a:latin typeface="Calibri"/>
                <a:cs typeface="Calibri"/>
              </a:rPr>
              <a:t>Temporal:</a:t>
            </a:r>
            <a:r>
              <a:rPr sz="2800" spc="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4B4B4B"/>
                </a:solidFill>
                <a:latin typeface="Calibri"/>
                <a:cs typeface="Calibri"/>
              </a:rPr>
              <a:t>Janeiro</a:t>
            </a:r>
            <a:r>
              <a:rPr sz="2800" spc="-8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F4F60"/>
                </a:solidFill>
                <a:latin typeface="Calibri"/>
                <a:cs typeface="Calibri"/>
              </a:rPr>
              <a:t>a</a:t>
            </a:r>
            <a:r>
              <a:rPr sz="2800" spc="-120" dirty="0">
                <a:solidFill>
                  <a:srgbClr val="3F4F60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484848"/>
                </a:solidFill>
                <a:latin typeface="Calibri"/>
                <a:cs typeface="Calibri"/>
              </a:rPr>
              <a:t>Junho </a:t>
            </a:r>
            <a:r>
              <a:rPr sz="2800" spc="-45" dirty="0">
                <a:solidFill>
                  <a:srgbClr val="464646"/>
                </a:solidFill>
                <a:latin typeface="Calibri"/>
                <a:cs typeface="Calibri"/>
              </a:rPr>
              <a:t>(Desenvolvimento)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04292" y="6381084"/>
            <a:ext cx="4339590" cy="1030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50035" marR="5080" indent="-1537970">
              <a:lnSpc>
                <a:spcPct val="117800"/>
              </a:lnSpc>
              <a:spcBef>
                <a:spcPts val="90"/>
              </a:spcBef>
            </a:pPr>
            <a:r>
              <a:rPr sz="2800" spc="-40" dirty="0">
                <a:solidFill>
                  <a:srgbClr val="494949"/>
                </a:solidFill>
                <a:latin typeface="Calibri"/>
                <a:cs typeface="Calibri"/>
              </a:rPr>
              <a:t>Público:</a:t>
            </a:r>
            <a:r>
              <a:rPr sz="2800" spc="-1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65656"/>
                </a:solidFill>
                <a:latin typeface="Calibri"/>
                <a:cs typeface="Calibri"/>
              </a:rPr>
              <a:t>ó</a:t>
            </a:r>
            <a:r>
              <a:rPr sz="2800" spc="-16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464646"/>
                </a:solidFill>
                <a:latin typeface="Calibri"/>
                <a:cs typeface="Calibri"/>
              </a:rPr>
              <a:t>Elementos</a:t>
            </a:r>
            <a:r>
              <a:rPr sz="2800" spc="4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84848"/>
                </a:solidFill>
                <a:latin typeface="Calibri"/>
                <a:cs typeface="Calibri"/>
              </a:rPr>
              <a:t>Técnicos</a:t>
            </a:r>
            <a:r>
              <a:rPr sz="2800" spc="-1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464646"/>
                </a:solidFill>
                <a:latin typeface="Calibri"/>
                <a:cs typeface="Calibri"/>
              </a:rPr>
              <a:t>e </a:t>
            </a:r>
            <a:r>
              <a:rPr sz="2800" spc="-10" dirty="0">
                <a:solidFill>
                  <a:srgbClr val="444444"/>
                </a:solidFill>
                <a:latin typeface="Calibri"/>
                <a:cs typeface="Calibri"/>
              </a:rPr>
              <a:t>Gestores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0799" y="4711898"/>
            <a:ext cx="17614900" cy="88773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281305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2215"/>
              </a:spcBef>
              <a:tabLst>
                <a:tab pos="5630545" algn="l"/>
              </a:tabLst>
            </a:pP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Técnica</a:t>
            </a:r>
            <a:r>
              <a:rPr sz="205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2050" spc="-80" dirty="0">
                <a:solidFill>
                  <a:srgbClr val="FFFFFF"/>
                </a:solidFill>
                <a:latin typeface="Arial MT"/>
                <a:cs typeface="Arial MT"/>
              </a:rPr>
              <a:t>Aplicação</a:t>
            </a:r>
            <a:r>
              <a:rPr sz="20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205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FFFFFF"/>
                </a:solidFill>
                <a:latin typeface="Arial MT"/>
                <a:cs typeface="Arial MT"/>
              </a:rPr>
              <a:t>Projecto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14"/>
              </a:spcBef>
            </a:pPr>
            <a:r>
              <a:rPr sz="4750" dirty="0">
                <a:solidFill>
                  <a:srgbClr val="1F1F1F"/>
                </a:solidFill>
              </a:rPr>
              <a:t>Metodologia</a:t>
            </a:r>
            <a:r>
              <a:rPr sz="4750" spc="254" dirty="0">
                <a:solidFill>
                  <a:srgbClr val="1F1F1F"/>
                </a:solidFill>
              </a:rPr>
              <a:t> </a:t>
            </a:r>
            <a:r>
              <a:rPr sz="4750" spc="75" dirty="0">
                <a:solidFill>
                  <a:srgbClr val="232323"/>
                </a:solidFill>
              </a:rPr>
              <a:t>de</a:t>
            </a:r>
            <a:r>
              <a:rPr sz="4750" spc="-375" dirty="0">
                <a:solidFill>
                  <a:srgbClr val="232323"/>
                </a:solidFill>
              </a:rPr>
              <a:t> </a:t>
            </a:r>
            <a:r>
              <a:rPr sz="4750" spc="-40" dirty="0">
                <a:solidFill>
                  <a:srgbClr val="131313"/>
                </a:solidFill>
              </a:rPr>
              <a:t>Pesquisa</a:t>
            </a:r>
            <a:endParaRPr sz="4750"/>
          </a:p>
        </p:txBody>
      </p:sp>
      <p:sp>
        <p:nvSpPr>
          <p:cNvPr id="4" name="object 4"/>
          <p:cNvSpPr txBox="1"/>
          <p:nvPr/>
        </p:nvSpPr>
        <p:spPr>
          <a:xfrm>
            <a:off x="1521717" y="5843142"/>
            <a:ext cx="1075372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337175" algn="l"/>
              </a:tabLst>
            </a:pPr>
            <a:r>
              <a:rPr sz="2050" spc="70" dirty="0">
                <a:latin typeface="Calibri"/>
                <a:cs typeface="Calibri"/>
              </a:rPr>
              <a:t>Observação</a:t>
            </a:r>
            <a:r>
              <a:rPr sz="2050" spc="40" dirty="0">
                <a:latin typeface="Calibri"/>
                <a:cs typeface="Calibri"/>
              </a:rPr>
              <a:t> </a:t>
            </a:r>
            <a:r>
              <a:rPr sz="2050" spc="90" dirty="0">
                <a:latin typeface="Calibri"/>
                <a:cs typeface="Calibri"/>
              </a:rPr>
              <a:t>Directa</a:t>
            </a:r>
            <a:r>
              <a:rPr sz="2050" dirty="0">
                <a:latin typeface="Calibri"/>
                <a:cs typeface="Calibri"/>
              </a:rPr>
              <a:t>	Análise</a:t>
            </a:r>
            <a:r>
              <a:rPr sz="2050" spc="-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das</a:t>
            </a:r>
            <a:r>
              <a:rPr sz="2050" spc="-4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vendas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manuais</a:t>
            </a:r>
            <a:r>
              <a:rPr sz="2050" spc="10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no</a:t>
            </a:r>
            <a:r>
              <a:rPr sz="2050" spc="15" dirty="0">
                <a:latin typeface="Calibri"/>
                <a:cs typeface="Calibri"/>
              </a:rPr>
              <a:t> </a:t>
            </a:r>
            <a:r>
              <a:rPr sz="2050" spc="-20" dirty="0">
                <a:latin typeface="Calibri"/>
                <a:cs typeface="Calibri"/>
              </a:rPr>
              <a:t>armazém</a:t>
            </a:r>
            <a:r>
              <a:rPr sz="2050" spc="55" dirty="0">
                <a:latin typeface="Calibri"/>
                <a:cs typeface="Calibri"/>
              </a:rPr>
              <a:t> </a:t>
            </a:r>
            <a:r>
              <a:rPr sz="2050" dirty="0">
                <a:latin typeface="Calibri"/>
                <a:cs typeface="Calibri"/>
              </a:rPr>
              <a:t>da</a:t>
            </a:r>
            <a:r>
              <a:rPr sz="2050" spc="-60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Viana.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8868" y="6706336"/>
            <a:ext cx="128143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10" dirty="0">
                <a:latin typeface="Calibri"/>
                <a:cs typeface="Calibri"/>
              </a:rPr>
              <a:t>Entrevistas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868" y="7585890"/>
            <a:ext cx="66230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10" dirty="0">
                <a:latin typeface="Calibri"/>
                <a:cs typeface="Calibri"/>
              </a:rPr>
              <a:t>Mista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1166" y="6706336"/>
            <a:ext cx="582295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70" dirty="0">
                <a:latin typeface="Calibri"/>
                <a:cs typeface="Calibri"/>
              </a:rPr>
              <a:t>Recolha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de</a:t>
            </a:r>
            <a:r>
              <a:rPr sz="2200" spc="-204" dirty="0">
                <a:latin typeface="Calibri"/>
                <a:cs typeface="Calibri"/>
              </a:rPr>
              <a:t> </a:t>
            </a:r>
            <a:r>
              <a:rPr sz="2200" spc="-60" dirty="0">
                <a:latin typeface="Calibri"/>
                <a:cs typeface="Calibri"/>
              </a:rPr>
              <a:t>regras </a:t>
            </a:r>
            <a:r>
              <a:rPr sz="2200" spc="-45" dirty="0">
                <a:solidFill>
                  <a:srgbClr val="627E93"/>
                </a:solidFill>
                <a:latin typeface="Calibri"/>
                <a:cs typeface="Calibri"/>
              </a:rPr>
              <a:t>de</a:t>
            </a:r>
            <a:r>
              <a:rPr sz="2200" spc="-204" dirty="0">
                <a:solidFill>
                  <a:srgbClr val="627E93"/>
                </a:solidFill>
                <a:latin typeface="Calibri"/>
                <a:cs typeface="Calibri"/>
              </a:rPr>
              <a:t> </a:t>
            </a:r>
            <a:r>
              <a:rPr sz="2200" spc="-80" dirty="0">
                <a:latin typeface="Calibri"/>
                <a:cs typeface="Calibri"/>
              </a:rPr>
              <a:t>negócio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14" dirty="0">
                <a:latin typeface="Calibri"/>
                <a:cs typeface="Calibri"/>
              </a:rPr>
              <a:t>com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administradores.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46189" y="7585890"/>
            <a:ext cx="5972175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75" dirty="0">
                <a:latin typeface="Calibri"/>
                <a:cs typeface="Calibri"/>
              </a:rPr>
              <a:t>Abordagem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Qualitativa </a:t>
            </a:r>
            <a:r>
              <a:rPr sz="2200" spc="-30" dirty="0">
                <a:latin typeface="Calibri"/>
                <a:cs typeface="Calibri"/>
              </a:rPr>
              <a:t>(fluxos)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2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Quantitativa</a:t>
            </a:r>
            <a:r>
              <a:rPr sz="2200" spc="-20" dirty="0">
                <a:latin typeface="Calibri"/>
                <a:cs typeface="Calibri"/>
              </a:rPr>
              <a:t> (dados).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95"/>
              </a:spcBef>
            </a:pPr>
            <a:r>
              <a:rPr lang="pt-PT" sz="4900" spc="114" dirty="0">
                <a:solidFill>
                  <a:srgbClr val="212121"/>
                </a:solidFill>
                <a:latin typeface="Calibri"/>
                <a:cs typeface="Calibri"/>
              </a:rPr>
              <a:t>Fundamentação teorica</a:t>
            </a:r>
            <a:endParaRPr sz="4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0850" y="1463675"/>
            <a:ext cx="19126199" cy="9633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50000"/>
              </a:lnSpc>
            </a:pPr>
            <a:endParaRPr lang="pt-P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Segundo </a:t>
            </a: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Bertalanffy (1968)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um sistema é um conjunto de elementos interligados que trabalham para alcançar determinados objetivos.</a:t>
            </a:r>
          </a:p>
          <a:p>
            <a:pPr>
              <a:lnSpc>
                <a:spcPct val="150000"/>
              </a:lnSpc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acordo com </a:t>
            </a: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Laudon e Laudon (2016)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os sistemas web são aplicações acessadas através da Internet para facilitar a gestão e o processamento de informações.</a:t>
            </a:r>
          </a:p>
          <a:p>
            <a:pPr>
              <a:lnSpc>
                <a:spcPct val="150000"/>
              </a:lnSpc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Segundo </a:t>
            </a: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Ralph Stair (2013)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os sistemas web possuem duas partes:</a:t>
            </a:r>
          </a:p>
          <a:p>
            <a:pPr lvl="1">
              <a:lnSpc>
                <a:spcPct val="150000"/>
              </a:lnSpc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Front-end: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visual do utilizador;</a:t>
            </a:r>
          </a:p>
          <a:p>
            <a:pPr lvl="1">
              <a:lnSpc>
                <a:spcPct val="150000"/>
              </a:lnSpc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Back-end: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processamento e gestão dos dados.</a:t>
            </a:r>
          </a:p>
          <a:p>
            <a:pPr>
              <a:lnSpc>
                <a:spcPct val="150000"/>
              </a:lnSpc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o desenvolvimento do sistema foram utilizadas tecnologias como:</a:t>
            </a:r>
          </a:p>
          <a:p>
            <a:pPr lvl="1">
              <a:lnSpc>
                <a:spcPct val="150000"/>
              </a:lnSpc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estrutura;</a:t>
            </a:r>
          </a:p>
          <a:p>
            <a:pPr lvl="1">
              <a:lnSpc>
                <a:spcPct val="150000"/>
              </a:lnSpc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design;</a:t>
            </a:r>
          </a:p>
          <a:p>
            <a:pPr lvl="1">
              <a:lnSpc>
                <a:spcPct val="150000"/>
              </a:lnSpc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interatividade;</a:t>
            </a:r>
          </a:p>
          <a:p>
            <a:pPr lvl="1">
              <a:lnSpc>
                <a:spcPct val="150000"/>
              </a:lnSpc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processamento;</a:t>
            </a:r>
          </a:p>
          <a:p>
            <a:pPr lvl="1">
              <a:lnSpc>
                <a:spcPct val="150000"/>
              </a:lnSpc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base de dados.</a:t>
            </a:r>
          </a:p>
          <a:p>
            <a:pPr>
              <a:lnSpc>
                <a:spcPct val="150000"/>
              </a:lnSpc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Baseado no documento enviado.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C851E-011B-E91D-D04D-C3E99A5C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929" y="724188"/>
            <a:ext cx="7312025" cy="669414"/>
          </a:xfrm>
        </p:spPr>
        <p:txBody>
          <a:bodyPr/>
          <a:lstStyle/>
          <a:p>
            <a:r>
              <a:rPr lang="pt-PT" dirty="0"/>
              <a:t>Ferramentas usadas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1DBEBC-58E4-988E-A76E-705F268F0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5250" y="2759075"/>
            <a:ext cx="16916400" cy="7379392"/>
          </a:xfrm>
        </p:spPr>
        <p:txBody>
          <a:bodyPr/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linguagem utilizada no desenvolvimento da lógica do sistema.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sistema de gestão da base de dados.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responsável pela estrutura das páginas.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utilizado para estilização da interface.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responsável pela interatividade do sistema.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ambiente local utilizado para execução do servidor e base de dados.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Baseado no documento enviado.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PT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581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56050" y="244475"/>
            <a:ext cx="10567721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PT" sz="4900" spc="-65" dirty="0">
                <a:solidFill>
                  <a:srgbClr val="212121"/>
                </a:solidFill>
              </a:rPr>
              <a:t>DIAGRAMA DE CASO DE USO</a:t>
            </a:r>
            <a:endParaRPr sz="49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8F1FC5-4FFC-A749-934A-B8E32D259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50" y="1010711"/>
            <a:ext cx="8534400" cy="100495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AA60957-A060-F54C-E45E-2503633C3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3651" y="1010711"/>
            <a:ext cx="8001000" cy="10049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992A0-80B8-2E01-811F-2AC6D6D0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929" y="724188"/>
            <a:ext cx="12015521" cy="1338828"/>
          </a:xfrm>
        </p:spPr>
        <p:txBody>
          <a:bodyPr/>
          <a:lstStyle/>
          <a:p>
            <a:r>
              <a:rPr lang="pt-PT" dirty="0"/>
              <a:t>DIAGRAMA DE ACTIVIDADE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31961F-87A7-17C6-FC9B-F50C22CD7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450" y="1768475"/>
            <a:ext cx="7172394" cy="88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6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2B7B-7A07-B6A8-3E39-EDD7966AA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929" y="724188"/>
            <a:ext cx="10720121" cy="669414"/>
          </a:xfrm>
        </p:spPr>
        <p:txBody>
          <a:bodyPr/>
          <a:lstStyle/>
          <a:p>
            <a:r>
              <a:rPr lang="pt-PT" dirty="0"/>
              <a:t>DIAGRAMA DE SEQUENCIA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10698C8-E95C-9755-A60C-9E1780A5C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450" y="2225675"/>
            <a:ext cx="11811000" cy="835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6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1B3CF-C4B7-FF19-0DB1-C6B018A8D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929" y="724188"/>
            <a:ext cx="7312025" cy="669414"/>
          </a:xfrm>
        </p:spPr>
        <p:txBody>
          <a:bodyPr/>
          <a:lstStyle/>
          <a:p>
            <a:r>
              <a:rPr lang="pt-PT" dirty="0"/>
              <a:t>MODELAGEM DE DADOS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3609CC9-C4FB-246B-DFB3-E1BA610FB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953990"/>
              </p:ext>
            </p:extLst>
          </p:nvPr>
        </p:nvGraphicFramePr>
        <p:xfrm>
          <a:off x="1746251" y="2301875"/>
          <a:ext cx="15657891" cy="78486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19297">
                  <a:extLst>
                    <a:ext uri="{9D8B030D-6E8A-4147-A177-3AD203B41FA5}">
                      <a16:colId xmlns:a16="http://schemas.microsoft.com/office/drawing/2014/main" val="654072519"/>
                    </a:ext>
                  </a:extLst>
                </a:gridCol>
                <a:gridCol w="5219297">
                  <a:extLst>
                    <a:ext uri="{9D8B030D-6E8A-4147-A177-3AD203B41FA5}">
                      <a16:colId xmlns:a16="http://schemas.microsoft.com/office/drawing/2014/main" val="878015158"/>
                    </a:ext>
                  </a:extLst>
                </a:gridCol>
                <a:gridCol w="5219297">
                  <a:extLst>
                    <a:ext uri="{9D8B030D-6E8A-4147-A177-3AD203B41FA5}">
                      <a16:colId xmlns:a16="http://schemas.microsoft.com/office/drawing/2014/main" val="3764156787"/>
                    </a:ext>
                  </a:extLst>
                </a:gridCol>
              </a:tblGrid>
              <a:tr h="820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Entidade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Atributos (Campos do Banco de Dados)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Função no Sistema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2882610249"/>
                  </a:ext>
                </a:extLst>
              </a:tr>
              <a:tr h="820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Utilizadores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id, nome, email, senha (hash), perfil, status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Controlo de acesso e segurança via Bcrypt . 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1522866918"/>
                  </a:ext>
                </a:extLst>
              </a:tr>
              <a:tr h="12482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Produtos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id, nome, cod_barras, preco_compra, preco_venda, estoque_atual, estoque_minimo, categoria_id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Gestão de inventário e base para cálculo de lucro . 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967897312"/>
                  </a:ext>
                </a:extLst>
              </a:tr>
              <a:tr h="820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Categorias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id, nome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Organização e filtragem de materiais (ex: Cimentos, Tintas). 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2928958250"/>
                  </a:ext>
                </a:extLst>
              </a:tr>
              <a:tr h="820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Vendas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id, data_venda, total, usuario_id, metodo_pagamento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Registo do cabeçalho da transação e identificação do vendedor . 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2644702724"/>
                  </a:ext>
                </a:extLst>
              </a:tr>
              <a:tr h="12482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Itens_Venda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id, venda_id, produto_id, quantidade, preco_unitario, custo_unitario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Detalhamento dos produtos vendidos. Armazena o custo histórico para precisão do lucro . 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4069456293"/>
                  </a:ext>
                </a:extLst>
              </a:tr>
              <a:tr h="8207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Caixa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id, saldo_inicial, total_vendas, entradas, saidas, data, status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Controlo do fluxo monetário diário e fecho de conta . 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1505944528"/>
                  </a:ext>
                </a:extLst>
              </a:tr>
              <a:tr h="12482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Perdas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>
                          <a:effectLst/>
                        </a:rPr>
                        <a:t>id, produto_id, quantidade, valor_total, motivo, data</a:t>
                      </a:r>
                      <a:endParaRPr lang="pt-PT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pt-PT" sz="2400" dirty="0">
                          <a:effectLst/>
                        </a:rPr>
                        <a:t>Registo de quebras ou materiais extraviados para abatimento no lucro líquido. </a:t>
                      </a:r>
                      <a:endParaRPr lang="pt-PT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446" marR="48446" marT="0" marB="0"/>
                </a:tc>
                <a:extLst>
                  <a:ext uri="{0D108BD9-81ED-4DB2-BD59-A6C34878D82A}">
                    <a16:rowId xmlns:a16="http://schemas.microsoft.com/office/drawing/2014/main" val="721899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3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82ABB-54D7-7C54-DD96-3798AEFB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050" y="396875"/>
            <a:ext cx="7312025" cy="669414"/>
          </a:xfrm>
        </p:spPr>
        <p:txBody>
          <a:bodyPr/>
          <a:lstStyle/>
          <a:p>
            <a:r>
              <a:rPr lang="pt-PT" dirty="0"/>
              <a:t>DIAGRAMA DE CLASSE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0F2DA8-1BCF-0E40-6D70-42C2C1B30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50" y="1066289"/>
            <a:ext cx="15621000" cy="984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44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AE2BA-C2EE-7B4B-5B7B-95DB38554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037" y="54774"/>
            <a:ext cx="7312025" cy="669414"/>
          </a:xfrm>
        </p:spPr>
        <p:txBody>
          <a:bodyPr/>
          <a:lstStyle/>
          <a:p>
            <a:r>
              <a:rPr lang="pt-PT" dirty="0"/>
              <a:t>DER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B8C932-3E5C-DF4A-567F-C96FB69CD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050" y="1056764"/>
            <a:ext cx="13487401" cy="1003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27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4182" cy="1130855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5FE2F3B-FB41-B61D-5C37-19B9A674B9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32" r="31580" b="15188"/>
          <a:stretch/>
        </p:blipFill>
        <p:spPr bwMode="auto">
          <a:xfrm>
            <a:off x="204182" y="0"/>
            <a:ext cx="19899918" cy="113093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4182" cy="113085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2212" y="5607159"/>
            <a:ext cx="282713" cy="28271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114"/>
              </a:spcBef>
            </a:pPr>
            <a:r>
              <a:rPr sz="4750" spc="-10" dirty="0" err="1">
                <a:solidFill>
                  <a:srgbClr val="131313"/>
                </a:solidFill>
              </a:rPr>
              <a:t>Conclus</a:t>
            </a:r>
            <a:r>
              <a:rPr lang="pt-PT" sz="4750" spc="-10" dirty="0">
                <a:solidFill>
                  <a:srgbClr val="131313"/>
                </a:solidFill>
              </a:rPr>
              <a:t>ão</a:t>
            </a:r>
            <a:endParaRPr sz="475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C0EDEE-A667-9FA5-7CC4-B5950AB00E67}"/>
              </a:ext>
            </a:extLst>
          </p:cNvPr>
          <p:cNvSpPr txBox="1"/>
          <p:nvPr/>
        </p:nvSpPr>
        <p:spPr>
          <a:xfrm>
            <a:off x="603250" y="3368675"/>
            <a:ext cx="182286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sistema desenvolvido permitiu automatizar processos comerciais da empresa. Houve melhoria no controlo de vendas, gestão de stock e acompanhamento financeiro. A automatização reduziu erros nos registos manuais e aumentou a eficiência operacional. A utilização de mecanismos de segurança garantiu maior proteção e integridade dos dados. O projeto demonstrou a importância da tecnologia na modernização e crescimento empresarial.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">
              <a:lnSpc>
                <a:spcPct val="100000"/>
              </a:lnSpc>
              <a:spcBef>
                <a:spcPts val="100"/>
              </a:spcBef>
            </a:pPr>
            <a:r>
              <a:rPr sz="5150" spc="85" dirty="0">
                <a:solidFill>
                  <a:srgbClr val="1A1A1A"/>
                </a:solidFill>
                <a:latin typeface="Calibri"/>
                <a:cs typeface="Calibri"/>
              </a:rPr>
              <a:t>Considerações</a:t>
            </a:r>
            <a:r>
              <a:rPr sz="5150" spc="3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5150" spc="80" dirty="0">
                <a:solidFill>
                  <a:srgbClr val="212121"/>
                </a:solidFill>
                <a:latin typeface="Calibri"/>
                <a:cs typeface="Calibri"/>
              </a:rPr>
              <a:t>Finais</a:t>
            </a:r>
            <a:endParaRPr sz="51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3501" y="5541450"/>
            <a:ext cx="17178655" cy="1635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sz="2700" spc="75" dirty="0">
                <a:solidFill>
                  <a:srgbClr val="494949"/>
                </a:solidFill>
                <a:latin typeface="Calibri"/>
                <a:cs typeface="Calibri"/>
              </a:rPr>
              <a:t>A</a:t>
            </a:r>
            <a:r>
              <a:rPr sz="2700" spc="-1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50" dirty="0">
                <a:solidFill>
                  <a:srgbClr val="4B4B4B"/>
                </a:solidFill>
                <a:latin typeface="Calibri"/>
                <a:cs typeface="Calibri"/>
              </a:rPr>
              <a:t>informática</a:t>
            </a:r>
            <a:r>
              <a:rPr sz="2700" spc="-2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700" spc="204" dirty="0">
                <a:solidFill>
                  <a:srgbClr val="4F4F4F"/>
                </a:solidFill>
                <a:latin typeface="Calibri"/>
                <a:cs typeface="Calibri"/>
              </a:rPr>
              <a:t>é</a:t>
            </a:r>
            <a:r>
              <a:rPr sz="2700" spc="204" dirty="0">
                <a:solidFill>
                  <a:srgbClr val="697283"/>
                </a:solidFill>
                <a:latin typeface="Calibri"/>
                <a:cs typeface="Calibri"/>
              </a:rPr>
              <a:t>o</a:t>
            </a:r>
            <a:r>
              <a:rPr sz="2700" spc="-170" dirty="0">
                <a:solidFill>
                  <a:srgbClr val="697283"/>
                </a:solidFill>
                <a:latin typeface="Calibri"/>
                <a:cs typeface="Calibri"/>
              </a:rPr>
              <a:t> </a:t>
            </a:r>
            <a:r>
              <a:rPr sz="2700" spc="-90" dirty="0">
                <a:solidFill>
                  <a:srgbClr val="444444"/>
                </a:solidFill>
                <a:latin typeface="Calibri"/>
                <a:cs typeface="Calibri"/>
              </a:rPr>
              <a:t>motor</a:t>
            </a:r>
            <a:r>
              <a:rPr sz="2700" spc="-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20" dirty="0">
                <a:solidFill>
                  <a:srgbClr val="505050"/>
                </a:solidFill>
                <a:latin typeface="Calibri"/>
                <a:cs typeface="Calibri"/>
              </a:rPr>
              <a:t>da</a:t>
            </a:r>
            <a:r>
              <a:rPr sz="2700" spc="-165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700" spc="-60" dirty="0">
                <a:solidFill>
                  <a:srgbClr val="444444"/>
                </a:solidFill>
                <a:latin typeface="Calibri"/>
                <a:cs typeface="Calibri"/>
              </a:rPr>
              <a:t>modernização</a:t>
            </a:r>
            <a:r>
              <a:rPr sz="2700" spc="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700" spc="-35" dirty="0">
                <a:solidFill>
                  <a:srgbClr val="464646"/>
                </a:solidFill>
                <a:latin typeface="Calibri"/>
                <a:cs typeface="Calibri"/>
              </a:rPr>
              <a:t>para</a:t>
            </a:r>
            <a:r>
              <a:rPr sz="2700" spc="-11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464646"/>
                </a:solidFill>
                <a:latin typeface="Calibri"/>
                <a:cs typeface="Calibri"/>
              </a:rPr>
              <a:t>as</a:t>
            </a:r>
            <a:r>
              <a:rPr sz="2700" spc="-11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700" spc="-45" dirty="0">
                <a:solidFill>
                  <a:srgbClr val="494949"/>
                </a:solidFill>
                <a:latin typeface="Calibri"/>
                <a:cs typeface="Calibri"/>
              </a:rPr>
              <a:t>empresas</a:t>
            </a:r>
            <a:r>
              <a:rPr sz="270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484848"/>
                </a:solidFill>
                <a:latin typeface="Calibri"/>
                <a:cs typeface="Calibri"/>
              </a:rPr>
              <a:t>angolanas.</a:t>
            </a:r>
            <a:endParaRPr sz="2700">
              <a:latin typeface="Calibri"/>
              <a:cs typeface="Calibri"/>
            </a:endParaRPr>
          </a:p>
          <a:p>
            <a:pPr marL="12700" marR="5080" indent="3175">
              <a:lnSpc>
                <a:spcPct val="117800"/>
              </a:lnSpc>
              <a:spcBef>
                <a:spcPts val="1500"/>
              </a:spcBef>
            </a:pPr>
            <a:r>
              <a:rPr sz="2800" spc="-10" dirty="0">
                <a:solidFill>
                  <a:srgbClr val="484848"/>
                </a:solidFill>
                <a:latin typeface="Calibri"/>
                <a:cs typeface="Calibri"/>
              </a:rPr>
              <a:t>Este</a:t>
            </a:r>
            <a:r>
              <a:rPr sz="2800" spc="-204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64646"/>
                </a:solidFill>
                <a:latin typeface="Calibri"/>
                <a:cs typeface="Calibri"/>
              </a:rPr>
              <a:t>projecto</a:t>
            </a:r>
            <a:r>
              <a:rPr sz="2800" spc="-8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414141"/>
                </a:solidFill>
                <a:latin typeface="Calibri"/>
                <a:cs typeface="Calibri"/>
              </a:rPr>
              <a:t>consolidou</a:t>
            </a:r>
            <a:r>
              <a:rPr sz="2800" spc="1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4B4B4B"/>
                </a:solidFill>
                <a:latin typeface="Calibri"/>
                <a:cs typeface="Calibri"/>
              </a:rPr>
              <a:t>a</a:t>
            </a:r>
            <a:r>
              <a:rPr sz="2800" spc="-18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44444"/>
                </a:solidFill>
                <a:latin typeface="Calibri"/>
                <a:cs typeface="Calibri"/>
              </a:rPr>
              <a:t>importância</a:t>
            </a:r>
            <a:r>
              <a:rPr sz="2800" spc="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spc="-65" dirty="0">
                <a:solidFill>
                  <a:srgbClr val="505050"/>
                </a:solidFill>
                <a:latin typeface="Calibri"/>
                <a:cs typeface="Calibri"/>
              </a:rPr>
              <a:t>vital</a:t>
            </a:r>
            <a:r>
              <a:rPr sz="2800" spc="-114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84848"/>
                </a:solidFill>
                <a:latin typeface="Calibri"/>
                <a:cs typeface="Calibri"/>
              </a:rPr>
              <a:t>da</a:t>
            </a:r>
            <a:r>
              <a:rPr sz="2800" spc="-12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105" dirty="0">
                <a:solidFill>
                  <a:srgbClr val="494949"/>
                </a:solidFill>
                <a:latin typeface="Calibri"/>
                <a:cs typeface="Calibri"/>
              </a:rPr>
              <a:t>segurança</a:t>
            </a:r>
            <a:r>
              <a:rPr sz="280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84848"/>
                </a:solidFill>
                <a:latin typeface="Calibri"/>
                <a:cs typeface="Calibri"/>
              </a:rPr>
              <a:t>de</a:t>
            </a:r>
            <a:r>
              <a:rPr sz="2800" spc="-254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spc="-110" dirty="0">
                <a:solidFill>
                  <a:srgbClr val="444444"/>
                </a:solidFill>
                <a:latin typeface="Calibri"/>
                <a:cs typeface="Calibri"/>
              </a:rPr>
              <a:t>dados</a:t>
            </a:r>
            <a:r>
              <a:rPr sz="2800" spc="-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94949"/>
                </a:solidFill>
                <a:latin typeface="Calibri"/>
                <a:cs typeface="Calibri"/>
              </a:rPr>
              <a:t>e</a:t>
            </a:r>
            <a:r>
              <a:rPr sz="2800" spc="-3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80" dirty="0">
                <a:solidFill>
                  <a:srgbClr val="494949"/>
                </a:solidFill>
                <a:latin typeface="Calibri"/>
                <a:cs typeface="Calibri"/>
              </a:rPr>
              <a:t>da</a:t>
            </a:r>
            <a:r>
              <a:rPr sz="2800" spc="-16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4F4F4F"/>
                </a:solidFill>
                <a:latin typeface="Calibri"/>
                <a:cs typeface="Calibri"/>
              </a:rPr>
              <a:t>harmonia</a:t>
            </a:r>
            <a:r>
              <a:rPr sz="2800" spc="-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100" dirty="0">
                <a:solidFill>
                  <a:srgbClr val="464646"/>
                </a:solidFill>
                <a:latin typeface="Calibri"/>
                <a:cs typeface="Calibri"/>
              </a:rPr>
              <a:t>entre</a:t>
            </a:r>
            <a:r>
              <a:rPr sz="2800" spc="-17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95" dirty="0">
                <a:solidFill>
                  <a:srgbClr val="484848"/>
                </a:solidFill>
                <a:latin typeface="Calibri"/>
                <a:cs typeface="Calibri"/>
              </a:rPr>
              <a:t>Front-</a:t>
            </a:r>
            <a:r>
              <a:rPr sz="2800" spc="-105" dirty="0">
                <a:solidFill>
                  <a:srgbClr val="484848"/>
                </a:solidFill>
                <a:latin typeface="Calibri"/>
                <a:cs typeface="Calibri"/>
              </a:rPr>
              <a:t>end</a:t>
            </a:r>
            <a:r>
              <a:rPr sz="2800" spc="-5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F4F4F"/>
                </a:solidFill>
                <a:latin typeface="Calibri"/>
                <a:cs typeface="Calibri"/>
              </a:rPr>
              <a:t>e</a:t>
            </a:r>
            <a:r>
              <a:rPr sz="2800" spc="-30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464646"/>
                </a:solidFill>
                <a:latin typeface="Calibri"/>
                <a:cs typeface="Calibri"/>
              </a:rPr>
              <a:t>Back-</a:t>
            </a:r>
            <a:r>
              <a:rPr sz="2800" spc="-50" dirty="0">
                <a:solidFill>
                  <a:srgbClr val="464646"/>
                </a:solidFill>
                <a:latin typeface="Calibri"/>
                <a:cs typeface="Calibri"/>
              </a:rPr>
              <a:t>end</a:t>
            </a:r>
            <a:r>
              <a:rPr sz="2800" spc="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494949"/>
                </a:solidFill>
                <a:latin typeface="Calibri"/>
                <a:cs typeface="Calibri"/>
              </a:rPr>
              <a:t>para</a:t>
            </a:r>
            <a:r>
              <a:rPr sz="2800" spc="-17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505050"/>
                </a:solidFill>
                <a:latin typeface="Calibri"/>
                <a:cs typeface="Calibri"/>
              </a:rPr>
              <a:t>o</a:t>
            </a:r>
            <a:r>
              <a:rPr sz="2800" spc="-21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800" spc="-85" dirty="0">
                <a:solidFill>
                  <a:srgbClr val="414141"/>
                </a:solidFill>
                <a:latin typeface="Calibri"/>
                <a:cs typeface="Calibri"/>
              </a:rPr>
              <a:t>sucesso</a:t>
            </a:r>
            <a:r>
              <a:rPr sz="2800" spc="-12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F4F4F"/>
                </a:solidFill>
                <a:latin typeface="Calibri"/>
                <a:cs typeface="Calibri"/>
              </a:rPr>
              <a:t>de </a:t>
            </a:r>
            <a:r>
              <a:rPr sz="2800" spc="-140" dirty="0">
                <a:solidFill>
                  <a:srgbClr val="495062"/>
                </a:solidFill>
                <a:latin typeface="Calibri"/>
                <a:cs typeface="Calibri"/>
              </a:rPr>
              <a:t>um</a:t>
            </a:r>
            <a:r>
              <a:rPr sz="2800" spc="-175" dirty="0">
                <a:solidFill>
                  <a:srgbClr val="495062"/>
                </a:solidFill>
                <a:latin typeface="Calibri"/>
                <a:cs typeface="Calibri"/>
              </a:rPr>
              <a:t> </a:t>
            </a:r>
            <a:r>
              <a:rPr sz="2800" spc="-125" dirty="0">
                <a:solidFill>
                  <a:srgbClr val="464646"/>
                </a:solidFill>
                <a:latin typeface="Calibri"/>
                <a:cs typeface="Calibri"/>
              </a:rPr>
              <a:t>negócio</a:t>
            </a:r>
            <a:r>
              <a:rPr sz="2800" spc="-20" dirty="0">
                <a:solidFill>
                  <a:srgbClr val="464646"/>
                </a:solidFill>
                <a:latin typeface="Calibri"/>
                <a:cs typeface="Calibri"/>
              </a:rPr>
              <a:t> comercial.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18050" y="4831393"/>
            <a:ext cx="1021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4400" spc="-135" dirty="0">
                <a:solidFill>
                  <a:srgbClr val="494949"/>
                </a:solidFill>
                <a:latin typeface="Calibri"/>
                <a:cs typeface="Calibri"/>
              </a:rPr>
              <a:t>Muito</a:t>
            </a:r>
            <a:r>
              <a:rPr sz="4400" spc="-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4400" spc="-120" dirty="0">
                <a:solidFill>
                  <a:srgbClr val="4B4B4B"/>
                </a:solidFill>
                <a:latin typeface="Calibri"/>
                <a:cs typeface="Calibri"/>
              </a:rPr>
              <a:t>obrigado</a:t>
            </a:r>
            <a:r>
              <a:rPr sz="4400" spc="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4400" spc="-80" dirty="0">
                <a:solidFill>
                  <a:srgbClr val="3F596E"/>
                </a:solidFill>
                <a:latin typeface="Calibri"/>
                <a:cs typeface="Calibri"/>
              </a:rPr>
              <a:t>pela</a:t>
            </a:r>
            <a:r>
              <a:rPr sz="4400" spc="-204" dirty="0">
                <a:solidFill>
                  <a:srgbClr val="3F596E"/>
                </a:solidFill>
                <a:latin typeface="Calibri"/>
                <a:cs typeface="Calibri"/>
              </a:rPr>
              <a:t> </a:t>
            </a:r>
            <a:r>
              <a:rPr sz="4400" spc="-95" dirty="0">
                <a:solidFill>
                  <a:srgbClr val="445670"/>
                </a:solidFill>
                <a:latin typeface="Calibri"/>
                <a:cs typeface="Calibri"/>
              </a:rPr>
              <a:t>vossa</a:t>
            </a:r>
            <a:r>
              <a:rPr sz="4400" spc="-114" dirty="0">
                <a:solidFill>
                  <a:srgbClr val="445670"/>
                </a:solidFill>
                <a:latin typeface="Calibri"/>
                <a:cs typeface="Calibri"/>
              </a:rPr>
              <a:t> </a:t>
            </a:r>
            <a:r>
              <a:rPr sz="4400" spc="-105" dirty="0">
                <a:solidFill>
                  <a:srgbClr val="4D4D4D"/>
                </a:solidFill>
                <a:latin typeface="Calibri"/>
                <a:cs typeface="Calibri"/>
              </a:rPr>
              <a:t>atençâo!</a:t>
            </a:r>
            <a:endParaRPr sz="4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3828" y="6956328"/>
            <a:ext cx="4993640" cy="109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50" spc="114" dirty="0">
                <a:solidFill>
                  <a:srgbClr val="46546E"/>
                </a:solidFill>
                <a:latin typeface="Calibri"/>
                <a:cs typeface="Calibri"/>
              </a:rPr>
              <a:t>Delfino</a:t>
            </a:r>
            <a:r>
              <a:rPr sz="2450" spc="-130" dirty="0">
                <a:solidFill>
                  <a:srgbClr val="46546E"/>
                </a:solidFill>
                <a:latin typeface="Calibri"/>
                <a:cs typeface="Calibri"/>
              </a:rPr>
              <a:t> </a:t>
            </a:r>
            <a:r>
              <a:rPr sz="2450" spc="120" dirty="0">
                <a:solidFill>
                  <a:srgbClr val="4F5267"/>
                </a:solidFill>
                <a:latin typeface="Calibri"/>
                <a:cs typeface="Calibri"/>
              </a:rPr>
              <a:t>Chiwila</a:t>
            </a:r>
            <a:r>
              <a:rPr sz="2450" spc="-100" dirty="0">
                <a:solidFill>
                  <a:srgbClr val="4F5267"/>
                </a:solidFill>
                <a:latin typeface="Calibri"/>
                <a:cs typeface="Calibri"/>
              </a:rPr>
              <a:t> </a:t>
            </a:r>
            <a:r>
              <a:rPr sz="2450" spc="95" dirty="0">
                <a:solidFill>
                  <a:srgbClr val="4F4F4F"/>
                </a:solidFill>
                <a:latin typeface="Calibri"/>
                <a:cs typeface="Calibri"/>
              </a:rPr>
              <a:t>Hipundaka</a:t>
            </a:r>
            <a:endParaRPr sz="24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405"/>
              </a:spcBef>
            </a:pPr>
            <a:r>
              <a:rPr sz="2550" dirty="0">
                <a:solidFill>
                  <a:srgbClr val="4B4B4B"/>
                </a:solidFill>
                <a:latin typeface="Calibri"/>
                <a:cs typeface="Calibri"/>
              </a:rPr>
              <a:t>Instituto</a:t>
            </a:r>
            <a:r>
              <a:rPr sz="2550" spc="12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94949"/>
                </a:solidFill>
                <a:latin typeface="Calibri"/>
                <a:cs typeface="Calibri"/>
              </a:rPr>
              <a:t>Medio</a:t>
            </a:r>
            <a:r>
              <a:rPr sz="2550" spc="6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24242"/>
                </a:solidFill>
                <a:latin typeface="Calibri"/>
                <a:cs typeface="Calibri"/>
              </a:rPr>
              <a:t>Comercial</a:t>
            </a:r>
            <a:r>
              <a:rPr sz="2550" spc="1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4B4B4B"/>
                </a:solidFill>
                <a:latin typeface="Calibri"/>
                <a:cs typeface="Calibri"/>
              </a:rPr>
              <a:t>de</a:t>
            </a:r>
            <a:r>
              <a:rPr sz="2550" spc="-13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4D4D4D"/>
                </a:solidFill>
                <a:latin typeface="Calibri"/>
                <a:cs typeface="Calibri"/>
              </a:rPr>
              <a:t>Luanda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4182" cy="1130855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287918" y="8375399"/>
            <a:ext cx="17591405" cy="0"/>
          </a:xfrm>
          <a:custGeom>
            <a:avLst/>
            <a:gdLst/>
            <a:ahLst/>
            <a:cxnLst/>
            <a:rect l="l" t="t" r="r" b="b"/>
            <a:pathLst>
              <a:path w="17591405">
                <a:moveTo>
                  <a:pt x="0" y="0"/>
                </a:moveTo>
                <a:lnTo>
                  <a:pt x="17591088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87918" y="6757647"/>
            <a:ext cx="17591405" cy="0"/>
          </a:xfrm>
          <a:custGeom>
            <a:avLst/>
            <a:gdLst/>
            <a:ahLst/>
            <a:cxnLst/>
            <a:rect l="l" t="t" r="r" b="b"/>
            <a:pathLst>
              <a:path w="17591405">
                <a:moveTo>
                  <a:pt x="0" y="0"/>
                </a:moveTo>
                <a:lnTo>
                  <a:pt x="17591088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87918" y="5469728"/>
            <a:ext cx="17591405" cy="0"/>
          </a:xfrm>
          <a:custGeom>
            <a:avLst/>
            <a:gdLst/>
            <a:ahLst/>
            <a:cxnLst/>
            <a:rect l="l" t="t" r="r" b="b"/>
            <a:pathLst>
              <a:path w="17591405">
                <a:moveTo>
                  <a:pt x="0" y="0"/>
                </a:moveTo>
                <a:lnTo>
                  <a:pt x="17591088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87918" y="4166103"/>
            <a:ext cx="17591405" cy="0"/>
          </a:xfrm>
          <a:custGeom>
            <a:avLst/>
            <a:gdLst/>
            <a:ahLst/>
            <a:cxnLst/>
            <a:rect l="l" t="t" r="r" b="b"/>
            <a:pathLst>
              <a:path w="17591405">
                <a:moveTo>
                  <a:pt x="0" y="0"/>
                </a:moveTo>
                <a:lnTo>
                  <a:pt x="17591088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6506" y="7209204"/>
            <a:ext cx="1413569" cy="785316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80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30"/>
              </a:spcBef>
            </a:pPr>
            <a:r>
              <a:rPr spc="310" dirty="0">
                <a:solidFill>
                  <a:srgbClr val="262626"/>
                </a:solidFill>
              </a:rPr>
              <a:t>Image</a:t>
            </a:r>
            <a:r>
              <a:rPr spc="-160" dirty="0">
                <a:solidFill>
                  <a:srgbClr val="262626"/>
                </a:solidFill>
              </a:rPr>
              <a:t> </a:t>
            </a:r>
            <a:r>
              <a:rPr spc="55" dirty="0"/>
              <a:t>Sources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71647" y="3284320"/>
            <a:ext cx="19900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445" dirty="0">
                <a:solidFill>
                  <a:srgbClr val="90C3A0"/>
                </a:solidFill>
                <a:latin typeface="Calibri"/>
                <a:cs typeface="Calibri"/>
              </a:rPr>
              <a:t>Vhumbnail</a:t>
            </a:r>
            <a:r>
              <a:rPr sz="1800" spc="60" dirty="0">
                <a:solidFill>
                  <a:srgbClr val="90C3A0"/>
                </a:solidFill>
                <a:latin typeface="Calibri"/>
                <a:cs typeface="Calibri"/>
              </a:rPr>
              <a:t>  </a:t>
            </a:r>
            <a:r>
              <a:rPr sz="2700" spc="-37" baseline="26234" dirty="0">
                <a:solidFill>
                  <a:srgbClr val="3D3D3D"/>
                </a:solidFill>
                <a:latin typeface="Calibri"/>
                <a:cs typeface="Calibri"/>
              </a:rPr>
              <a:t>htt</a:t>
            </a:r>
            <a:endParaRPr sz="2700" baseline="26234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47561" y="3174375"/>
            <a:ext cx="75698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3D3D3D"/>
                </a:solidFill>
                <a:latin typeface="Calibri"/>
                <a:cs typeface="Calibri"/>
              </a:rPr>
              <a:t>mgv2-</a:t>
            </a:r>
            <a:r>
              <a:rPr sz="1800" spc="-35" dirty="0">
                <a:solidFill>
                  <a:srgbClr val="3D3D3D"/>
                </a:solidFill>
                <a:latin typeface="Calibri"/>
                <a:cs typeface="Calibri"/>
              </a:rPr>
              <a:t>1-f.scribdassets.com/img/document/798ó4O588/original/8eb04af3Of/1?v=</a:t>
            </a:r>
            <a:r>
              <a:rPr sz="1800" spc="2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56647E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3531" y="3548709"/>
            <a:ext cx="8572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355" dirty="0">
                <a:solidFill>
                  <a:srgbClr val="3B5979"/>
                </a:solidFill>
                <a:latin typeface="Calibri"/>
                <a:cs typeface="Calibri"/>
              </a:rPr>
              <a:t>t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9271" y="3852366"/>
            <a:ext cx="147955" cy="222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spc="-25" dirty="0">
                <a:solidFill>
                  <a:srgbClr val="3B5979"/>
                </a:solidFill>
                <a:latin typeface="Calibri"/>
                <a:cs typeface="Calibri"/>
              </a:rPr>
              <a:t>f*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7676" y="3548709"/>
            <a:ext cx="229679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-120" dirty="0">
                <a:solidFill>
                  <a:srgbClr val="383838"/>
                </a:solidFill>
                <a:latin typeface="Calibri"/>
                <a:cs typeface="Calibri"/>
              </a:rPr>
              <a:t>Source:</a:t>
            </a:r>
            <a:r>
              <a:rPr sz="2300" spc="-12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300" spc="-95" dirty="0">
                <a:solidFill>
                  <a:srgbClr val="4B46AA"/>
                </a:solidFill>
                <a:latin typeface="Calibri"/>
                <a:cs typeface="Calibri"/>
              </a:rPr>
              <a:t>ptacribd.com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6564" y="4383108"/>
            <a:ext cx="1714500" cy="103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 indent="-1270">
              <a:lnSpc>
                <a:spcPct val="122100"/>
              </a:lnSpc>
              <a:spcBef>
                <a:spcPts val="100"/>
              </a:spcBef>
            </a:pPr>
            <a:r>
              <a:rPr sz="2700" spc="-10" dirty="0">
                <a:solidFill>
                  <a:srgbClr val="484848"/>
                </a:solidFill>
                <a:latin typeface="Calibri"/>
                <a:cs typeface="Calibri"/>
              </a:rPr>
              <a:t>”Vhumbnail </a:t>
            </a:r>
            <a:r>
              <a:rPr sz="2700" spc="-25" dirty="0">
                <a:solidFill>
                  <a:srgbClr val="49527C"/>
                </a:solidFill>
                <a:latin typeface="Calibri"/>
                <a:cs typeface="Calibri"/>
              </a:rPr>
              <a:t>for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00592" y="4316356"/>
            <a:ext cx="119634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4050" spc="-52" baseline="22633" dirty="0">
                <a:solidFill>
                  <a:srgbClr val="4B4B4B"/>
                </a:solidFill>
                <a:latin typeface="Calibri"/>
                <a:cs typeface="Calibri"/>
              </a:rPr>
              <a:t>nt.scribd.com</a:t>
            </a:r>
            <a:r>
              <a:rPr sz="1800" spc="-35" dirty="0">
                <a:solidFill>
                  <a:srgbClr val="383838"/>
                </a:solidFill>
                <a:latin typeface="Calibri"/>
                <a:cs typeface="Calibri"/>
                <a:hlinkClick r:id="rId4"/>
              </a:rPr>
              <a:t>https://cdn.dribbbIe.com/userupIoad/46846178/file/77ac74aó8a1a4cOóOdcf98cf91O1a4fO.png?resize=4OOxO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0486" y="5478624"/>
            <a:ext cx="2035175" cy="121348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 marR="252729" indent="5080">
              <a:lnSpc>
                <a:spcPct val="68700"/>
              </a:lnSpc>
              <a:spcBef>
                <a:spcPts val="1120"/>
              </a:spcBef>
            </a:pPr>
            <a:r>
              <a:rPr sz="2700" spc="-100" dirty="0">
                <a:solidFill>
                  <a:srgbClr val="4B4B4B"/>
                </a:solidFill>
                <a:latin typeface="Calibri"/>
                <a:cs typeface="Calibri"/>
              </a:rPr>
              <a:t>rtribbble.com </a:t>
            </a:r>
            <a:r>
              <a:rPr sz="2700" spc="-10" dirty="0">
                <a:solidFill>
                  <a:srgbClr val="62AE5B"/>
                </a:solidFill>
                <a:latin typeface="Calibri"/>
                <a:cs typeface="Calibri"/>
              </a:rPr>
              <a:t>"Vhumbnail</a:t>
            </a:r>
            <a:endParaRPr sz="2700" dirty="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1115"/>
              </a:spcBef>
            </a:pPr>
            <a:r>
              <a:rPr sz="2300" spc="90" dirty="0">
                <a:solidFill>
                  <a:srgbClr val="3D3D3D"/>
                </a:solidFill>
                <a:latin typeface="Calibri"/>
                <a:cs typeface="Calibri"/>
              </a:rPr>
              <a:t>www.</a:t>
            </a:r>
            <a:r>
              <a:rPr sz="2050" spc="90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1800" spc="90" dirty="0">
                <a:solidFill>
                  <a:srgbClr val="3D3D3D"/>
                </a:solidFill>
                <a:latin typeface="Calibri"/>
                <a:cs typeface="Calibri"/>
              </a:rPr>
              <a:t>U</a:t>
            </a:r>
            <a:r>
              <a:rPr sz="1800" spc="4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250" spc="105" dirty="0">
                <a:solidFill>
                  <a:srgbClr val="3D3D3D"/>
                </a:solidFill>
                <a:latin typeface="Calibri"/>
                <a:cs typeface="Calibri"/>
              </a:rPr>
              <a:t>l</a:t>
            </a:r>
            <a:r>
              <a:rPr sz="2300" spc="105" dirty="0">
                <a:solidFill>
                  <a:srgbClr val="3D3D3D"/>
                </a:solidFill>
                <a:latin typeface="Calibri"/>
                <a:cs typeface="Calibri"/>
              </a:rPr>
              <a:t>treca</a:t>
            </a:r>
            <a:r>
              <a:rPr sz="1250" spc="105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endParaRPr sz="125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8243" y="4852989"/>
            <a:ext cx="227330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80" dirty="0">
                <a:solidFill>
                  <a:srgbClr val="444444"/>
                </a:solidFill>
                <a:latin typeface="Calibri"/>
                <a:cs typeface="Calibri"/>
              </a:rPr>
              <a:t>Source:</a:t>
            </a:r>
            <a:r>
              <a:rPr sz="2200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F54BF"/>
                </a:solidFill>
                <a:latin typeface="Calibri"/>
                <a:cs typeface="Calibri"/>
              </a:rPr>
              <a:t>dribbblecom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03202" y="5644922"/>
            <a:ext cx="14864080" cy="858519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805"/>
              </a:spcBef>
            </a:pPr>
            <a:r>
              <a:rPr sz="1800" spc="-50" dirty="0">
                <a:solidFill>
                  <a:srgbClr val="444444"/>
                </a:solidFill>
                <a:latin typeface="Calibri"/>
                <a:cs typeface="Calibri"/>
              </a:rPr>
              <a:t>s://</a:t>
            </a:r>
            <a:r>
              <a:rPr sz="1800" spc="-50" dirty="0">
                <a:solidFill>
                  <a:srgbClr val="444444"/>
                </a:solidFill>
                <a:latin typeface="Calibri"/>
                <a:cs typeface="Calibri"/>
                <a:hlinkClick r:id="rId5"/>
              </a:rPr>
              <a:t>www.cuatrecasas.com/images/cache/publication</a:t>
            </a:r>
            <a:r>
              <a:rPr sz="1800" spc="43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detail/resources/ndpweb-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torre-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mancuIusso-12OOxd27-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d34O3c06e2a1ddO259</a:t>
            </a:r>
            <a:r>
              <a:rPr sz="1800" spc="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B3B3B"/>
                </a:solidFill>
                <a:latin typeface="Calibri"/>
                <a:cs typeface="Calibri"/>
              </a:rPr>
              <a:t>1795.webp?v1.95.7.2O2dO424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1059180" algn="l"/>
              </a:tabLst>
            </a:pPr>
            <a:r>
              <a:rPr sz="1250" spc="155" dirty="0">
                <a:solidFill>
                  <a:srgbClr val="3D3D3D"/>
                </a:solidFill>
                <a:latin typeface="Calibri"/>
                <a:cs typeface="Calibri"/>
              </a:rPr>
              <a:t>S</a:t>
            </a:r>
            <a:r>
              <a:rPr sz="2300" spc="155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1250" spc="155" dirty="0">
                <a:solidFill>
                  <a:srgbClr val="3D3D3D"/>
                </a:solidFill>
                <a:latin typeface="Calibri"/>
                <a:cs typeface="Calibri"/>
              </a:rPr>
              <a:t>C</a:t>
            </a:r>
            <a:r>
              <a:rPr sz="1250" dirty="0">
                <a:solidFill>
                  <a:srgbClr val="3D3D3D"/>
                </a:solidFill>
                <a:latin typeface="Calibri"/>
                <a:cs typeface="Calibri"/>
              </a:rPr>
              <a:t>	</a:t>
            </a:r>
            <a:r>
              <a:rPr sz="2300" spc="-55" dirty="0">
                <a:solidFill>
                  <a:srgbClr val="5249BD"/>
                </a:solidFill>
                <a:latin typeface="Calibri"/>
                <a:cs typeface="Calibri"/>
              </a:rPr>
              <a:t>.cuatrecasas.com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5135" y="8839779"/>
            <a:ext cx="155321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>
                <a:solidFill>
                  <a:srgbClr val="4F4F4F"/>
                </a:solidFill>
                <a:latin typeface="Calibri"/>
                <a:cs typeface="Calibri"/>
              </a:rPr>
              <a:t>Vhumbnail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48243" y="6967453"/>
            <a:ext cx="15741015" cy="11506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spc="-45" dirty="0">
                <a:solidFill>
                  <a:srgbClr val="3B3B3B"/>
                </a:solidFill>
                <a:latin typeface="Calibri"/>
                <a:cs typeface="Calibri"/>
                <a:hlinkClick r:id="rId6"/>
              </a:rPr>
              <a:t>https://media.istockphoto.com/id/672320826/photo/large-hangar-warehouse-</a:t>
            </a:r>
            <a:r>
              <a:rPr sz="1800" spc="-40" dirty="0">
                <a:solidFill>
                  <a:srgbClr val="3B3B3B"/>
                </a:solidFill>
                <a:latin typeface="Calibri"/>
                <a:cs typeface="Calibri"/>
                <a:hlinkClick r:id="rId6"/>
              </a:rPr>
              <a:t>industrial-</a:t>
            </a:r>
            <a:r>
              <a:rPr sz="1800" spc="-45" dirty="0">
                <a:solidFill>
                  <a:srgbClr val="3B3B3B"/>
                </a:solidFill>
                <a:latin typeface="Calibri"/>
                <a:cs typeface="Calibri"/>
                <a:hlinkClick r:id="rId6"/>
              </a:rPr>
              <a:t>and-</a:t>
            </a:r>
            <a:r>
              <a:rPr sz="1800" spc="-40" dirty="0">
                <a:solidFill>
                  <a:srgbClr val="3B3B3B"/>
                </a:solidFill>
                <a:latin typeface="Calibri"/>
                <a:cs typeface="Calibri"/>
                <a:hlinkClick r:id="rId6"/>
              </a:rPr>
              <a:t>logistics-</a:t>
            </a:r>
            <a:r>
              <a:rPr sz="1800" spc="-35" dirty="0">
                <a:solidFill>
                  <a:srgbClr val="3B3B3B"/>
                </a:solidFill>
                <a:latin typeface="Calibri"/>
                <a:cs typeface="Calibri"/>
                <a:hlinkClick r:id="rId6"/>
              </a:rPr>
              <a:t>companies.jpg?s=6</a:t>
            </a:r>
            <a:r>
              <a:rPr sz="1800" spc="480" dirty="0">
                <a:solidFill>
                  <a:srgbClr val="3B3B3B"/>
                </a:solidFill>
                <a:latin typeface="Calibri"/>
                <a:cs typeface="Calibri"/>
              </a:rPr>
              <a:t>  </a:t>
            </a:r>
            <a:r>
              <a:rPr sz="1800" spc="-10" dirty="0">
                <a:solidFill>
                  <a:srgbClr val="464646"/>
                </a:solidFill>
                <a:latin typeface="Calibri"/>
                <a:cs typeface="Calibri"/>
              </a:rPr>
              <a:t>12x6</a:t>
            </a:r>
            <a:r>
              <a:rPr sz="1800" spc="-10" dirty="0">
                <a:solidFill>
                  <a:srgbClr val="494949"/>
                </a:solidFill>
                <a:latin typeface="Calibri"/>
                <a:cs typeface="Calibri"/>
              </a:rPr>
              <a:t>12&amp;w=O&amp;k=2O&amp;c=F5JbTosZJ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1IhKZF8CUc1Ln</a:t>
            </a:r>
            <a:endParaRPr sz="180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solidFill>
                  <a:srgbClr val="424242"/>
                </a:solidFill>
                <a:latin typeface="Consolas"/>
                <a:cs typeface="Consolas"/>
              </a:rPr>
              <a:t>#cKGuu‹uwsQARG6NKPuxc=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200" spc="-80" dirty="0">
                <a:solidFill>
                  <a:srgbClr val="3D3D3D"/>
                </a:solidFill>
                <a:latin typeface="Calibri"/>
                <a:cs typeface="Calibri"/>
              </a:rPr>
              <a:t>Source:</a:t>
            </a:r>
            <a:r>
              <a:rPr sz="2200" spc="-7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E77EF"/>
                </a:solidFill>
                <a:latin typeface="Calibri"/>
                <a:cs typeface="Calibri"/>
                <a:hlinkClick r:id="rId7"/>
              </a:rPr>
              <a:t>www.istockphoto.com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40776" y="8563357"/>
            <a:ext cx="15816580" cy="7042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spc="-40" dirty="0">
                <a:solidFill>
                  <a:srgbClr val="3D3D3D"/>
                </a:solidFill>
                <a:latin typeface="Calibri"/>
                <a:cs typeface="Calibri"/>
                <a:hlinkClick r:id="rId8"/>
              </a:rPr>
              <a:t>https://static.vecteezy.com/system/resources/previews/Oó8/497/470/non</a:t>
            </a:r>
            <a:r>
              <a:rPr sz="1800" spc="180" dirty="0">
                <a:solidFill>
                  <a:srgbClr val="3D3D3D"/>
                </a:solidFill>
                <a:latin typeface="Calibri"/>
                <a:cs typeface="Calibri"/>
              </a:rPr>
              <a:t>  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2x/cybersecurity-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data-</a:t>
            </a:r>
            <a:r>
              <a:rPr sz="1800" spc="-20" dirty="0">
                <a:solidFill>
                  <a:srgbClr val="3F3F3F"/>
                </a:solidFill>
                <a:latin typeface="Calibri"/>
                <a:cs typeface="Calibri"/>
              </a:rPr>
              <a:t>protection-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microchip-padIock-</a:t>
            </a:r>
            <a:r>
              <a:rPr sz="1800" spc="-25" dirty="0">
                <a:solidFill>
                  <a:srgbClr val="3F3F3F"/>
                </a:solidFill>
                <a:latin typeface="Calibri"/>
                <a:cs typeface="Calibri"/>
              </a:rPr>
              <a:t>icon-digitaI-security-</a:t>
            </a:r>
            <a:r>
              <a:rPr sz="1800" spc="-30" dirty="0">
                <a:solidFill>
                  <a:srgbClr val="3F3F3F"/>
                </a:solidFill>
                <a:latin typeface="Calibri"/>
                <a:cs typeface="Calibri"/>
              </a:rPr>
              <a:t>system-encryption-</a:t>
            </a:r>
            <a:r>
              <a:rPr sz="1800" spc="-10" dirty="0">
                <a:solidFill>
                  <a:srgbClr val="3F3F3F"/>
                </a:solidFill>
                <a:latin typeface="Calibri"/>
                <a:cs typeface="Calibri"/>
              </a:rPr>
              <a:t>techn</a:t>
            </a:r>
            <a:endParaRPr sz="1800">
              <a:latin typeface="Calibri"/>
              <a:cs typeface="Calibri"/>
            </a:endParaRPr>
          </a:p>
          <a:p>
            <a:pPr marL="394970">
              <a:lnSpc>
                <a:spcPct val="100000"/>
              </a:lnSpc>
              <a:spcBef>
                <a:spcPts val="590"/>
              </a:spcBef>
            </a:pPr>
            <a:r>
              <a:rPr sz="1650" dirty="0">
                <a:solidFill>
                  <a:srgbClr val="2A2A2A"/>
                </a:solidFill>
                <a:latin typeface="Calibri"/>
                <a:cs typeface="Calibri"/>
              </a:rPr>
              <a:t>y-safeguard-concept-iIIustration-free-</a:t>
            </a:r>
            <a:r>
              <a:rPr sz="1650" spc="-10" dirty="0">
                <a:solidFill>
                  <a:srgbClr val="2A2A2A"/>
                </a:solidFill>
                <a:latin typeface="Calibri"/>
                <a:cs typeface="Calibri"/>
              </a:rPr>
              <a:t>png.png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2989" y="9399971"/>
            <a:ext cx="472694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30" dirty="0">
                <a:solidFill>
                  <a:srgbClr val="3B3B3B"/>
                </a:solidFill>
                <a:latin typeface="Arial MT"/>
                <a:cs typeface="Arial MT"/>
              </a:rPr>
              <a:t>www.vecteezyamn:</a:t>
            </a:r>
            <a:r>
              <a:rPr sz="2200" spc="-30" dirty="0">
                <a:solidFill>
                  <a:srgbClr val="6E77EF"/>
                </a:solidFill>
                <a:latin typeface="Arial MT"/>
                <a:cs typeface="Arial MT"/>
                <a:hlinkClick r:id="rId9"/>
              </a:rPr>
              <a:t>www.vecteezy.com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1930</TotalTime>
  <Words>913</Words>
  <Application>Microsoft Office PowerPoint</Application>
  <PresentationFormat>Personalizar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Arial MT</vt:lpstr>
      <vt:lpstr>Calibri</vt:lpstr>
      <vt:lpstr>Consolas</vt:lpstr>
      <vt:lpstr>Times New Roman</vt:lpstr>
      <vt:lpstr>Office Theme</vt:lpstr>
      <vt:lpstr>Apresentação do PowerPoint</vt:lpstr>
      <vt:lpstr>Introdução</vt:lpstr>
      <vt:lpstr>Delimitoçóo do Projecto</vt:lpstr>
      <vt:lpstr>Metodologia de Pesquisa</vt:lpstr>
      <vt:lpstr>Fundamentação teorica</vt:lpstr>
      <vt:lpstr>Ferramentas usadas</vt:lpstr>
      <vt:lpstr>DIAGRAMA DE CASO DE USO</vt:lpstr>
      <vt:lpstr>DIAGRAMA DE ACTIVIDADE</vt:lpstr>
      <vt:lpstr>DIAGRAMA DE SEQUENCIA</vt:lpstr>
      <vt:lpstr>MODELAGEM DE DADOS</vt:lpstr>
      <vt:lpstr>DIAGRAMA DE CLASSE</vt:lpstr>
      <vt:lpstr>DER</vt:lpstr>
      <vt:lpstr>Apresentação do PowerPoint</vt:lpstr>
      <vt:lpstr>Conclusão</vt:lpstr>
      <vt:lpstr>Considerações Finais</vt:lpstr>
      <vt:lpstr>Apresentação do PowerPoint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DELFINO CHIWILA</dc:creator>
  <cp:lastModifiedBy>DELFINO CHIWILA</cp:lastModifiedBy>
  <cp:revision>4</cp:revision>
  <dcterms:created xsi:type="dcterms:W3CDTF">2026-05-10T12:32:43Z</dcterms:created>
  <dcterms:modified xsi:type="dcterms:W3CDTF">2026-10-20T10:55:17Z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2026-05-10T00:00:00Z</vt:filetime>
  </property>
  <property fmtid="{D5CDD505-2E9C-101B-9397-08002B2CF9AE}" pid="4" name="LastSaved">
    <vt:filetime>2026-05-10T00:00:00Z</vt:filetime>
  </property>
</Properties>
</file>